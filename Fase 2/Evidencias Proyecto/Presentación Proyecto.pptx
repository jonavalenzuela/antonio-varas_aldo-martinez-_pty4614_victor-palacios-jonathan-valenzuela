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62" r:id="rId11"/>
    <p:sldId id="263" r:id="rId12"/>
    <p:sldId id="264" r:id="rId13"/>
    <p:sldId id="280" r:id="rId14"/>
    <p:sldId id="265" r:id="rId15"/>
    <p:sldId id="281" r:id="rId16"/>
    <p:sldId id="266" r:id="rId17"/>
    <p:sldId id="282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9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70432"/>
            <a:ext cx="1280160" cy="7315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5100" b="1">
                <a:solidFill>
                  <a:srgbClr val="FFFFFF"/>
                </a:solidFill>
                <a:latin typeface="Aptos"/>
              </a:defRPr>
            </a:pPr>
            <a:r>
              <a:t>FitWise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t>Entrenamiento y nutrición personalizada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t>en una aplicación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70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Jonathan Valenzuela · Víctor Palacios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El desafío: comenzar con orientación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0175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Qué ejercicios hacer y cómo utilizar máquinas de forma adecuada.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30175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ALIMENTACIÓN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58568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Cómo estimar requerimientos calóricos y organizar comidas.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474720" cy="30175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CONTINUIDAD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58568"/>
            <a:ext cx="310896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Cómo registrar actividades y observar el progreso.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Público inicial: personas adultas en Chile que entrenan en casa o gimnasio.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La propuesta FitWise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A3151"/>
                </a:solidFill>
                <a:latin typeface="Aptos"/>
              </a:defRPr>
            </a:pPr>
            <a:r>
              <a:t>Un entorno móvil que reúne orientación para entrenar, alimentación y seguimiento.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99232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53447"/>
                </a:solidFill>
                <a:latin typeface="Aptos"/>
              </a:defRPr>
            </a:pPr>
            <a:r>
              <a:t>Rutinas para casa o gimnasio y consulta de ejercicios.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538728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53447"/>
                </a:solidFill>
                <a:latin typeface="Aptos"/>
              </a:defRPr>
            </a:pPr>
            <a:r>
              <a:t>Guía de máquinas y equipamiento.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15968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197096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53447"/>
                </a:solidFill>
                <a:latin typeface="Aptos"/>
              </a:defRPr>
            </a:pPr>
            <a:r>
              <a:t>Estimación de calorías según características y objetivo.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974336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855464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53447"/>
                </a:solidFill>
                <a:latin typeface="Aptos"/>
              </a:defRPr>
            </a:pPr>
            <a:r>
              <a:t>Minutas, orientación alimentaria y registros de progreso.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Objetivos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789920" cy="150876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104241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Apoyar la planificación del entrenamiento y la alimentación según objetivos y características personales.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33832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ORIENTAR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Ejercicios, máquinas y rutinas.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3429000"/>
            <a:ext cx="33832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PERSONALIZAR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40873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Estimación calórica y alimentación.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429000"/>
            <a:ext cx="33832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ACOMPAÑAR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408736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Seguimiento, usabilidad y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Seis capacidades integradas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RUTINAS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Casa o gimnasio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EJERCICIOS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585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Consulta y orientación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0020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MÁQUINAS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2585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Guía de equipamiento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CALORÍAS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Estimación por objetivo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6616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NUTRICIÓN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2452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Alimentos y minutas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566160"/>
            <a:ext cx="356616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19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PROGRESO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22452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Historial y registros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Experiencia del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697480" cy="21488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Configura su perfil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697480" cy="21488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87168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Define su objetivo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697480" cy="21488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87168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Consulta rutinas y nutrición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828800"/>
            <a:ext cx="2697480" cy="21488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487168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Registra y revisa progreso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253"/>
                </a:solidFill>
              </a:defRPr>
            </a:pPr>
            <a:r>
              <a:t>FitWise: acceso y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66675"/>
                </a:solidFill>
              </a:defRPr>
            </a:pPr>
            <a:r>
              <a:t>Evidencia visual de la aplicación ejecutándose en Android</a:t>
            </a:r>
          </a:p>
        </p:txBody>
      </p:sp>
      <p:pic>
        <p:nvPicPr>
          <p:cNvPr id="4" name="Picture 3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21" y="1325880"/>
            <a:ext cx="2442524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2293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Acceso</a:t>
            </a:r>
          </a:p>
        </p:txBody>
      </p:sp>
      <p:pic>
        <p:nvPicPr>
          <p:cNvPr id="6" name="Picture 5" descr="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585" y="1325880"/>
            <a:ext cx="244252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4857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Detalle de rutina</a:t>
            </a:r>
          </a:p>
        </p:txBody>
      </p:sp>
      <p:pic>
        <p:nvPicPr>
          <p:cNvPr id="8" name="Picture 7" descr="0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49" y="1325880"/>
            <a:ext cx="2442524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27421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Ejercicio y temporizador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253"/>
                </a:solidFill>
              </a:defRPr>
            </a:pPr>
            <a:r>
              <a:t>Entrenamiento guiado 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66675"/>
                </a:solidFill>
              </a:defRPr>
            </a:pPr>
            <a:r>
              <a:t>Secuencia observada: rutina de seis ejercicios con temporizador y controles de avance</a:t>
            </a:r>
          </a:p>
        </p:txBody>
      </p:sp>
      <p:pic>
        <p:nvPicPr>
          <p:cNvPr id="4" name="Picture 3" descr="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21" y="1325880"/>
            <a:ext cx="2442524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2293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Ejercicio cardiovascular</a:t>
            </a:r>
          </a:p>
        </p:txBody>
      </p:sp>
      <p:pic>
        <p:nvPicPr>
          <p:cNvPr id="6" name="Picture 5" descr="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585" y="1325880"/>
            <a:ext cx="244252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4857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Sentadillas</a:t>
            </a:r>
          </a:p>
        </p:txBody>
      </p:sp>
      <p:pic>
        <p:nvPicPr>
          <p:cNvPr id="8" name="Picture 7" descr="0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49" y="1325880"/>
            <a:ext cx="2442524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27421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Finalizar rutina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253"/>
                </a:solidFill>
              </a:defRPr>
            </a:pPr>
            <a:r>
              <a:t>Nutrición, calorías y progreso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66675"/>
                </a:solidFill>
              </a:defRPr>
            </a:pPr>
            <a:r>
              <a:t>Pantallas reales observadas en la demostración</a:t>
            </a:r>
          </a:p>
        </p:txBody>
      </p:sp>
      <p:pic>
        <p:nvPicPr>
          <p:cNvPr id="4" name="Picture 3" descr="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21" y="1325880"/>
            <a:ext cx="2442524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2293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Seguimiento</a:t>
            </a:r>
          </a:p>
        </p:txBody>
      </p:sp>
      <p:pic>
        <p:nvPicPr>
          <p:cNvPr id="6" name="Picture 5" descr="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585" y="1325880"/>
            <a:ext cx="244252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4857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Calculadora calórica</a:t>
            </a:r>
          </a:p>
        </p:txBody>
      </p:sp>
      <p:pic>
        <p:nvPicPr>
          <p:cNvPr id="8" name="Picture 7" descr="1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49" y="1325880"/>
            <a:ext cx="2442524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27421" y="5806440"/>
            <a:ext cx="266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253"/>
                </a:solidFill>
              </a:defRPr>
            </a:pPr>
            <a:r>
              <a:t>Minuta diaria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65392"/>
            <a:ext cx="112772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66675"/>
                </a:solidFill>
              </a:defRPr>
            </a:pPr>
            <a:r>
              <a:t>FitWise · Capturas auténticas extraídas del video de demostración · Octubre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Arquitectura: responsabilidades claras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8321040" cy="117043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75688"/>
            <a:ext cx="79552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Jetpack Compose · Pantallas · ViewModels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6151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B898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926080"/>
            <a:ext cx="8321040" cy="117043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31089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584448"/>
            <a:ext cx="79552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Modelos · Casos de uso · Reglas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1239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B898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434840"/>
            <a:ext cx="8321040" cy="117043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46177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093207"/>
            <a:ext cx="79552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Repositorios · Fuentes configuradas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Ejemplo técnico: cálculo calórico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389888"/>
            <a:ext cx="9784080" cy="80467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5636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A3151"/>
                </a:solidFill>
                <a:latin typeface="Aptos"/>
              </a:defRPr>
            </a:pPr>
            <a:r>
              <a:t>01   Usuario ingresa datos y objetivo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478024"/>
            <a:ext cx="9784080" cy="80467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6517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A3151"/>
                </a:solidFill>
                <a:latin typeface="Aptos"/>
              </a:defRPr>
            </a:pPr>
            <a:r>
              <a:t>02   Pantalla solicita operación al ViewModel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566160"/>
            <a:ext cx="9784080" cy="80467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73989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A3151"/>
                </a:solidFill>
                <a:latin typeface="Aptos"/>
              </a:defRPr>
            </a:pPr>
            <a:r>
              <a:t>03   CalculateCaloriesUseCase ejecuta el cálculo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654296"/>
            <a:ext cx="9784080" cy="804672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4828031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A3151"/>
                </a:solidFill>
                <a:latin typeface="Aptos"/>
              </a:defRPr>
            </a:pPr>
            <a:r>
              <a:t>04   CalorieResult vuelve a la interfaz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Modelo conceptual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49240" cy="160020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User · UserProfile · WeightEntry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349240" cy="160020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ENTRENAMIENTO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Workout · Exercise · Machine · WorkoutHistory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349240" cy="160020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NUTRICIÓN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Meal · Food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66160"/>
            <a:ext cx="5349240" cy="160020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749040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CÁLCULO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24528"/>
            <a:ext cx="49834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CalorieResult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Modèle de diagramme de classes pour système de gestion de salle de sport">
            <a:extLst>
              <a:ext uri="{FF2B5EF4-FFF2-40B4-BE49-F238E27FC236}">
                <a16:creationId xmlns:a16="http://schemas.microsoft.com/office/drawing/2014/main" id="{342806CA-17CE-267D-328A-056430314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355" y="457200"/>
            <a:ext cx="8521290" cy="594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8760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Relaciones principales del dominio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73352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53447"/>
                </a:solidFill>
                <a:latin typeface="Aptos"/>
              </a:defRPr>
            </a:pPr>
            <a:r>
              <a:t>Un usuario dispone de un perfil y puede registrar peso y sesiones.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33472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53447"/>
                </a:solidFill>
                <a:latin typeface="Aptos"/>
              </a:defRPr>
            </a:pPr>
            <a:r>
              <a:t>Una rutina agrupa ejercicios; un ejercicio puede aparecer en distintas rutinas.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593591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47472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53447"/>
                </a:solidFill>
                <a:latin typeface="Aptos"/>
              </a:defRPr>
            </a:pPr>
            <a:r>
              <a:t>Las máquinas complementan la información de ejercicios.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553712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43484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53447"/>
                </a:solidFill>
                <a:latin typeface="Aptos"/>
              </a:defRPr>
            </a:pPr>
            <a:r>
              <a:t>Una minuta agrupa alimentos; el perfil y objetivo originan una estimación calórica.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Unidirectional Data Flow. Basic Knowledge of UDF | by Beny Liantriana | Medium">
            <a:extLst>
              <a:ext uri="{FF2B5EF4-FFF2-40B4-BE49-F238E27FC236}">
                <a16:creationId xmlns:a16="http://schemas.microsoft.com/office/drawing/2014/main" id="{A6859F4B-2A03-2CF9-6153-103A7B1CE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0" y="457200"/>
            <a:ext cx="7620000" cy="594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738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Casos de uso: qué puede hacer el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36192"/>
            <a:ext cx="347472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ACCESO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Registro e inicio de sesión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36192"/>
            <a:ext cx="347472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PERFIL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Gestionar datos y objetivos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36192"/>
            <a:ext cx="347472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719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ENTRENAMIENTO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Consultar ejercicios, máquinas y rutinas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75304"/>
            <a:ext cx="347472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581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NUTRICIÓN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3367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Calcular calorías y consultar minutas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575304"/>
            <a:ext cx="347472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37581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SEGUIMIENTO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3367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Registrar sesiones y consultar progreso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477E9AD-A2C9-46DA-7F6F-E5E5C0B1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32" y="457200"/>
            <a:ext cx="651353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Calidad: criterios de aceptación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Aislamiento por sesión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0876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691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Privacidad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6712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Uso limitado de 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691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Usabilidad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6712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Navegación clara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50876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1691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Rendimiento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16712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Operación fluida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044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Integridad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788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Registros coherentes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352044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3703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Mantenibilidad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1788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Separación por capas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52044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703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Compatibilidad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788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Android objetivo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3520440"/>
            <a:ext cx="2697480" cy="1691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55480" y="37033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Confiabilidad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1788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Validación de entradas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Pruebas automatizadas: evidencia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6974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Suites / clases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54480"/>
            <a:ext cx="26974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1284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Fallos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54480"/>
            <a:ext cx="26974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1284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Errores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554480"/>
            <a:ext cx="2697480" cy="1645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212848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Omitidas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29000"/>
            <a:ext cx="98755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Qué se validó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REPOSITORIOS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Migración de catálogo y acceso a ejercicios, máquinas y usuarios.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Generación de rutinas y reglas aisladas incluidas en las suites.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VIEWMODELS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Acceso, registro, inicio, navegación, perfil, ejercicios y rutinas.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Propuesta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CENTRALIZACIÓN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Entrenamiento, nutrición y progreso desde una sola aplicación.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ORIENTACIÓN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Contenido pensado para quienes comienzan a entrenar.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520440" cy="292608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PERSONALIZACIÓN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04288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Estimaciones y orientación según datos y objetivos del usuario.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Planificación y avance estimado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18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647382"/>
                </a:solidFill>
                <a:latin typeface="Aptos"/>
              </a:defRPr>
            </a:pPr>
            <a:r>
              <a:t>3 fases académicas · 10 actividades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900" b="1">
                <a:solidFill>
                  <a:srgbClr val="1B8985"/>
                </a:solidFill>
                <a:latin typeface="Aptos"/>
              </a:defRPr>
            </a:pPr>
            <a:r>
              <a:t>91 %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10515600" cy="3200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9569196" cy="320040"/>
          </a:xfrm>
          <a:prstGeom prst="round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A3151"/>
                </a:solidFill>
                <a:latin typeface="Aptos"/>
              </a:defRPr>
            </a:pPr>
            <a:r>
              <a:t>Promedio simple estimado de las diez actividades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Estado de avance por actividad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Planificación y requisitos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3533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11095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Diseño de aplicación e interfaz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91109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100 %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Desarrollo de la 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90 %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Implementación de base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02666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85 %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8444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Calculadora y recomendaciones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90 %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42231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Rutinas y guía de ejercicios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1422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90 %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001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Pruebas y corrección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7000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90 %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447"/>
                </a:solidFill>
                <a:latin typeface="Aptos"/>
              </a:defRPr>
            </a:pPr>
            <a:r>
              <a:t>Evaluación y presentación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257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65 %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Próximos pasos de evolución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2834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Ampliar pruebas de usabilidad y evidencias de ejecución.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2834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EXPERIENCIA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50008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Refinar la navegación y visualización del progreso.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474720" cy="283464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8985"/>
                </a:solidFill>
                <a:latin typeface="Aptos"/>
              </a:defRPr>
            </a:pPr>
            <a:r>
              <a:t>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350008"/>
            <a:ext cx="3108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447"/>
                </a:solidFill>
                <a:latin typeface="Aptos"/>
              </a:defRPr>
            </a:pPr>
            <a:r>
              <a:t>Incorporar mediciones explícitas de cobertura y rendimiento.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Líneas de evolución propuestas; no se presentan como funcionalidades implementadas.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1A3151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1143000" cy="54864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FITWISE ·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19072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1498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53447"/>
                </a:solidFill>
                <a:latin typeface="Aptos"/>
              </a:defRPr>
            </a:pPr>
            <a:r>
              <a:t>FitWise reúne orientación de entrenamiento, nutrición y seguimiento.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578608"/>
            <a:ext cx="101498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53447"/>
                </a:solidFill>
                <a:latin typeface="Aptos"/>
              </a:defRPr>
            </a:pPr>
            <a:r>
              <a:t>La arquitectura por capas organiza la interfaz, la lógica y los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675888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557016"/>
            <a:ext cx="101498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53447"/>
                </a:solidFill>
                <a:latin typeface="Aptos"/>
              </a:defRPr>
            </a:pPr>
            <a:r>
              <a:t>Las pruebas mostradas respaldan los componentes evaluados, con límites de cobertura.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654296"/>
            <a:ext cx="91440" cy="91440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535424"/>
            <a:ext cx="101498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253447"/>
                </a:solidFill>
                <a:latin typeface="Aptos"/>
              </a:defRPr>
            </a:pPr>
            <a:r>
              <a:t>La planificación registra avances importantes y actividades aún por cerrar.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WhatsApp Video 2026-10-19 at 12.49.19 PM">
            <a:hlinkClick r:id="" action="ppaction://media"/>
            <a:extLst>
              <a:ext uri="{FF2B5EF4-FFF2-40B4-BE49-F238E27FC236}">
                <a16:creationId xmlns:a16="http://schemas.microsoft.com/office/drawing/2014/main" id="{604DE2E7-E9D4-55A6-BA19-8411BCBE86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24363" y="457200"/>
            <a:ext cx="334327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2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16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5400" b="1">
                <a:solidFill>
                  <a:srgbClr val="FFFFFF"/>
                </a:solidFill>
                <a:latin typeface="Aptos"/>
              </a:defRPr>
            </a:pPr>
            <a:r>
              <a:t>FitWise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554480" cy="82296"/>
          </a:xfrm>
          <a:prstGeom prst="rect">
            <a:avLst/>
          </a:prstGeom>
          <a:solidFill>
            <a:srgbClr val="1B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0">
                <a:solidFill>
                  <a:srgbClr val="FFFFFF"/>
                </a:solidFill>
                <a:latin typeface="Aptos"/>
              </a:defRPr>
            </a:pPr>
            <a:r>
              <a:t>Gracias por su 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Jonathan Valenzuela · Víctor Palacios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836</Words>
  <Application>Microsoft Office PowerPoint</Application>
  <PresentationFormat>Panorámica</PresentationFormat>
  <Paragraphs>218</Paragraphs>
  <Slides>27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FELIPE VALENZUELA GOMEZ</cp:lastModifiedBy>
  <cp:revision>3</cp:revision>
  <dcterms:created xsi:type="dcterms:W3CDTF">2013-01-27T09:14:16Z</dcterms:created>
  <dcterms:modified xsi:type="dcterms:W3CDTF">2026-10-23T19:15:08Z</dcterms:modified>
  <cp:category/>
</cp:coreProperties>
</file>