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8288000" cy="10287000"/>
  <p:notesSz cx="6858000" cy="9144000"/>
  <p:embeddedFontLst>
    <p:embeddedFont>
      <p:font typeface="Anton" pitchFamily="2" charset="0"/>
      <p:regular r:id="rId24"/>
    </p:embeddedFont>
    <p:embeddedFont>
      <p:font typeface="Anton Italics" panose="020B0604020202020204" charset="0"/>
      <p:regular r:id="rId25"/>
    </p:embeddedFont>
    <p:embeddedFont>
      <p:font typeface="Garet" panose="020B0604020202020204" charset="0"/>
      <p:regular r:id="rId26"/>
    </p:embeddedFont>
    <p:embeddedFont>
      <p:font typeface="Garet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3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sv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-1295397" y="-124513"/>
            <a:ext cx="11467984" cy="10411513"/>
            <a:chOff x="0" y="0"/>
            <a:chExt cx="1831152" cy="16624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31152" cy="1662460"/>
            </a:xfrm>
            <a:custGeom>
              <a:avLst/>
              <a:gdLst/>
              <a:ahLst/>
              <a:cxnLst/>
              <a:rect l="l" t="t" r="r" b="b"/>
              <a:pathLst>
                <a:path w="1831152" h="1662460">
                  <a:moveTo>
                    <a:pt x="203200" y="0"/>
                  </a:moveTo>
                  <a:lnTo>
                    <a:pt x="1831152" y="0"/>
                  </a:lnTo>
                  <a:lnTo>
                    <a:pt x="1627952" y="1662460"/>
                  </a:lnTo>
                  <a:lnTo>
                    <a:pt x="0" y="16624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237BF">
                <a:alpha val="53725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1600" y="-47625"/>
              <a:ext cx="1627952" cy="171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295397" y="0"/>
            <a:ext cx="6147645" cy="10411513"/>
            <a:chOff x="0" y="0"/>
            <a:chExt cx="981626" cy="16624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81626" cy="1662460"/>
            </a:xfrm>
            <a:custGeom>
              <a:avLst/>
              <a:gdLst/>
              <a:ahLst/>
              <a:cxnLst/>
              <a:rect l="l" t="t" r="r" b="b"/>
              <a:pathLst>
                <a:path w="981626" h="1662460">
                  <a:moveTo>
                    <a:pt x="203200" y="0"/>
                  </a:moveTo>
                  <a:lnTo>
                    <a:pt x="981626" y="0"/>
                  </a:lnTo>
                  <a:lnTo>
                    <a:pt x="778426" y="1662460"/>
                  </a:lnTo>
                  <a:lnTo>
                    <a:pt x="0" y="166246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237B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1600" y="-47625"/>
              <a:ext cx="778426" cy="17100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682890" y="8382166"/>
            <a:ext cx="2433950" cy="1289993"/>
          </a:xfrm>
          <a:custGeom>
            <a:avLst/>
            <a:gdLst/>
            <a:ahLst/>
            <a:cxnLst/>
            <a:rect l="l" t="t" r="r" b="b"/>
            <a:pathLst>
              <a:path w="2433950" h="1289993">
                <a:moveTo>
                  <a:pt x="0" y="0"/>
                </a:moveTo>
                <a:lnTo>
                  <a:pt x="2433949" y="0"/>
                </a:lnTo>
                <a:lnTo>
                  <a:pt x="2433949" y="1289993"/>
                </a:lnTo>
                <a:lnTo>
                  <a:pt x="0" y="12899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0" name="Freeform 10"/>
          <p:cNvSpPr/>
          <p:nvPr/>
        </p:nvSpPr>
        <p:spPr>
          <a:xfrm>
            <a:off x="-453000" y="-367838"/>
            <a:ext cx="7315200" cy="1396538"/>
          </a:xfrm>
          <a:custGeom>
            <a:avLst/>
            <a:gdLst/>
            <a:ahLst/>
            <a:cxnLst/>
            <a:rect l="l" t="t" r="r" b="b"/>
            <a:pathLst>
              <a:path w="7315200" h="1396538">
                <a:moveTo>
                  <a:pt x="0" y="0"/>
                </a:moveTo>
                <a:lnTo>
                  <a:pt x="7315200" y="0"/>
                </a:lnTo>
                <a:lnTo>
                  <a:pt x="7315200" y="1396538"/>
                </a:lnTo>
                <a:lnTo>
                  <a:pt x="0" y="13965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1" name="TextBox 11"/>
          <p:cNvSpPr txBox="1"/>
          <p:nvPr/>
        </p:nvSpPr>
        <p:spPr>
          <a:xfrm>
            <a:off x="1185527" y="2195558"/>
            <a:ext cx="7333443" cy="1582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58"/>
              </a:lnSpc>
            </a:pPr>
            <a:r>
              <a:rPr lang="en-US" sz="11044" i="1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FITWISE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4021047"/>
            <a:ext cx="8761998" cy="1060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1"/>
              </a:lnSpc>
            </a:pPr>
            <a:r>
              <a:rPr lang="en-US" sz="2799">
                <a:solidFill>
                  <a:srgbClr val="CEE452"/>
                </a:solidFill>
                <a:latin typeface="Garet"/>
                <a:ea typeface="Garet"/>
                <a:cs typeface="Garet"/>
                <a:sym typeface="Garet"/>
              </a:rPr>
              <a:t>APLICACIÓN MÓVIL DE ENTRENAMIENTO Y NUTRICIÓN PERSONALIZADA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7797292"/>
            <a:ext cx="5972984" cy="1461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CEE452"/>
                </a:solidFill>
                <a:latin typeface="Garet"/>
                <a:ea typeface="Garet"/>
                <a:cs typeface="Garet"/>
                <a:sym typeface="Garet"/>
              </a:rPr>
              <a:t>PROYECTO APT – INGENIERÍA EN INFORMÁTICA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CEE452"/>
                </a:solidFill>
                <a:latin typeface="Garet"/>
                <a:ea typeface="Garet"/>
                <a:cs typeface="Garet"/>
                <a:sym typeface="Garet"/>
              </a:rPr>
              <a:t> JONATHAN VALENZUELA – VICTOR PALACIOS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CEE452"/>
                </a:solidFill>
                <a:latin typeface="Garet"/>
                <a:ea typeface="Garet"/>
                <a:cs typeface="Garet"/>
                <a:sym typeface="Garet"/>
              </a:rPr>
              <a:t> DUOC UC</a:t>
            </a:r>
          </a:p>
          <a:p>
            <a:pPr algn="l">
              <a:lnSpc>
                <a:spcPts val="2925"/>
              </a:lnSpc>
            </a:pPr>
            <a:r>
              <a:rPr lang="en-US" sz="1899">
                <a:solidFill>
                  <a:srgbClr val="CEE452"/>
                </a:solidFill>
                <a:latin typeface="Garet"/>
                <a:ea typeface="Garet"/>
                <a:cs typeface="Garet"/>
                <a:sym typeface="Garet"/>
              </a:rPr>
              <a:t>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79655" y="648042"/>
            <a:ext cx="7455517" cy="1231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1"/>
              </a:lnSpc>
            </a:pPr>
            <a:r>
              <a:rPr lang="en-US" sz="8596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INDICE</a:t>
            </a:r>
          </a:p>
        </p:txBody>
      </p:sp>
      <p:sp>
        <p:nvSpPr>
          <p:cNvPr id="3" name="Freeform 3"/>
          <p:cNvSpPr/>
          <p:nvPr/>
        </p:nvSpPr>
        <p:spPr>
          <a:xfrm>
            <a:off x="3819455" y="1879772"/>
            <a:ext cx="1874008" cy="993224"/>
          </a:xfrm>
          <a:custGeom>
            <a:avLst/>
            <a:gdLst/>
            <a:ahLst/>
            <a:cxnLst/>
            <a:rect l="l" t="t" r="r" b="b"/>
            <a:pathLst>
              <a:path w="1874008" h="993224">
                <a:moveTo>
                  <a:pt x="0" y="0"/>
                </a:moveTo>
                <a:lnTo>
                  <a:pt x="1874008" y="0"/>
                </a:lnTo>
                <a:lnTo>
                  <a:pt x="1874008" y="993224"/>
                </a:lnTo>
                <a:lnTo>
                  <a:pt x="0" y="993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5953092" y="1235332"/>
            <a:ext cx="11747788" cy="839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99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💡 ¿QUÉ ES FITWISE?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🌎 ¿POR QUÉ ELEGIMOS ESTE PROYECTO?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🤝 ¿A QUIENES VA DIRIGIDO?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💪¿CÓMO SE RELACIONA CON NUESTRO PERFIL DE EGRESO?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🛠️ TECNOLOGÍAS Y DESARROLLO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🔄 METODOLOGÍA DE DESARROLLO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🏗️ ARQUITECTURA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⚠️ RIESGOS 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🔐 SEGURIDAD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💰 MODELO DE NEGOCIO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📋 PLAN DE TRABAJO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📱 MOCKUP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  <a:r>
              <a:rPr lang="en-US" sz="39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🎯 CONCLUSIÓN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3563" y="8664877"/>
            <a:ext cx="7315200" cy="1847088"/>
          </a:xfrm>
          <a:custGeom>
            <a:avLst/>
            <a:gdLst/>
            <a:ahLst/>
            <a:cxnLst/>
            <a:rect l="l" t="t" r="r" b="b"/>
            <a:pathLst>
              <a:path w="7315200" h="1847088">
                <a:moveTo>
                  <a:pt x="0" y="0"/>
                </a:moveTo>
                <a:lnTo>
                  <a:pt x="7315200" y="0"/>
                </a:lnTo>
                <a:lnTo>
                  <a:pt x="7315200" y="1847088"/>
                </a:lnTo>
                <a:lnTo>
                  <a:pt x="0" y="18470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-803009" y="7244689"/>
            <a:ext cx="4227046" cy="4027222"/>
          </a:xfrm>
          <a:custGeom>
            <a:avLst/>
            <a:gdLst/>
            <a:ahLst/>
            <a:cxnLst/>
            <a:rect l="l" t="t" r="r" b="b"/>
            <a:pathLst>
              <a:path w="4227046" h="4027222">
                <a:moveTo>
                  <a:pt x="0" y="0"/>
                </a:moveTo>
                <a:lnTo>
                  <a:pt x="4227046" y="0"/>
                </a:lnTo>
                <a:lnTo>
                  <a:pt x="4227046" y="4027222"/>
                </a:lnTo>
                <a:lnTo>
                  <a:pt x="0" y="402722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1028700" y="2665472"/>
            <a:ext cx="7455517" cy="1231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541"/>
              </a:lnSpc>
            </a:pPr>
            <a:r>
              <a:rPr lang="en-US" sz="8596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¿QUÉ ES FITWISE?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84217" y="1910662"/>
            <a:ext cx="7370944" cy="2588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7"/>
              </a:lnSpc>
            </a:pPr>
            <a:r>
              <a:rPr lang="en-US" sz="2798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FitWise es un prototipo de aplicación móvil que busca integrar entrenamiento, orientación sobre ejercicios y nutrición en una sola plataforma.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84217" y="5012055"/>
            <a:ext cx="8420267" cy="4280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b="1">
                <a:solidFill>
                  <a:srgbClr val="CEE452"/>
                </a:solidFill>
                <a:latin typeface="Garet Bold"/>
                <a:ea typeface="Garet Bold"/>
                <a:cs typeface="Garet Bold"/>
                <a:sym typeface="Garet Bold"/>
              </a:rPr>
              <a:t>Principales funcionalidades</a:t>
            </a:r>
          </a:p>
          <a:p>
            <a:pPr algn="l">
              <a:lnSpc>
                <a:spcPts val="4200"/>
              </a:lnSpc>
            </a:pPr>
            <a:r>
              <a:rPr lang="en-US" sz="2800" b="1">
                <a:solidFill>
                  <a:srgbClr val="CEE452"/>
                </a:solidFill>
                <a:latin typeface="Garet Bold"/>
                <a:ea typeface="Garet Bold"/>
                <a:cs typeface="Garet Bold"/>
                <a:sym typeface="Garet Bold"/>
              </a:rPr>
              <a:t>🏠 Entrenamiento en casa</a:t>
            </a:r>
          </a:p>
          <a:p>
            <a:pPr algn="l">
              <a:lnSpc>
                <a:spcPts val="4200"/>
              </a:lnSpc>
            </a:pPr>
            <a:r>
              <a:rPr lang="en-US" sz="2800" b="1">
                <a:solidFill>
                  <a:srgbClr val="CEE452"/>
                </a:solidFill>
                <a:latin typeface="Garet Bold"/>
                <a:ea typeface="Garet Bold"/>
                <a:cs typeface="Garet Bold"/>
                <a:sym typeface="Garet Bold"/>
              </a:rPr>
              <a:t> 🏋️ Entrenamiento en gimnasio</a:t>
            </a:r>
          </a:p>
          <a:p>
            <a:pPr algn="l">
              <a:lnSpc>
                <a:spcPts val="4200"/>
              </a:lnSpc>
            </a:pPr>
            <a:r>
              <a:rPr lang="en-US" sz="2800" b="1">
                <a:solidFill>
                  <a:srgbClr val="CEE452"/>
                </a:solidFill>
                <a:latin typeface="Garet Bold"/>
                <a:ea typeface="Garet Bold"/>
                <a:cs typeface="Garet Bold"/>
                <a:sym typeface="Garet Bold"/>
              </a:rPr>
              <a:t> 📚 Guía de ejercicios y máquinas</a:t>
            </a:r>
          </a:p>
          <a:p>
            <a:pPr algn="l">
              <a:lnSpc>
                <a:spcPts val="4200"/>
              </a:lnSpc>
            </a:pPr>
            <a:r>
              <a:rPr lang="en-US" sz="2800" b="1">
                <a:solidFill>
                  <a:srgbClr val="CEE452"/>
                </a:solidFill>
                <a:latin typeface="Garet Bold"/>
                <a:ea typeface="Garet Bold"/>
                <a:cs typeface="Garet Bold"/>
                <a:sym typeface="Garet Bold"/>
              </a:rPr>
              <a:t> 🔥 Calculadora de requerimientos calóricos</a:t>
            </a:r>
          </a:p>
          <a:p>
            <a:pPr algn="l">
              <a:lnSpc>
                <a:spcPts val="4200"/>
              </a:lnSpc>
            </a:pPr>
            <a:r>
              <a:rPr lang="en-US" sz="2800" b="1">
                <a:solidFill>
                  <a:srgbClr val="CEE452"/>
                </a:solidFill>
                <a:latin typeface="Garet Bold"/>
                <a:ea typeface="Garet Bold"/>
                <a:cs typeface="Garet Bold"/>
                <a:sym typeface="Garet Bold"/>
              </a:rPr>
              <a:t> 🥗 Recomendaciones de alimentación</a:t>
            </a:r>
          </a:p>
          <a:p>
            <a:pPr algn="l">
              <a:lnSpc>
                <a:spcPts val="4200"/>
              </a:lnSpc>
            </a:pPr>
            <a:r>
              <a:rPr lang="en-US" sz="2800" b="1">
                <a:solidFill>
                  <a:srgbClr val="CEE452"/>
                </a:solidFill>
                <a:latin typeface="Garet Bold"/>
                <a:ea typeface="Garet Bold"/>
                <a:cs typeface="Garet Bold"/>
                <a:sym typeface="Garet Bold"/>
              </a:rPr>
              <a:t> 📊 Seguimiento del progreso</a:t>
            </a:r>
          </a:p>
          <a:p>
            <a:pPr algn="l">
              <a:lnSpc>
                <a:spcPts val="4200"/>
              </a:lnSpc>
            </a:pPr>
            <a:endParaRPr lang="en-US" sz="2800" b="1">
              <a:solidFill>
                <a:srgbClr val="CEE452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192962"/>
            <a:ext cx="6954472" cy="39791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44"/>
              </a:lnSpc>
              <a:spcBef>
                <a:spcPct val="0"/>
              </a:spcBef>
            </a:pPr>
            <a:r>
              <a:rPr lang="en-US" sz="8703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¿POR QUÉ ELEGIMOS ESTE PROYECTO?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83172" y="1337205"/>
            <a:ext cx="735474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  <a:spcBef>
                <a:spcPct val="0"/>
              </a:spcBef>
            </a:pPr>
            <a:r>
              <a:rPr lang="en-US" sz="2999" b="1">
                <a:solidFill>
                  <a:srgbClr val="CEE452"/>
                </a:solidFill>
                <a:latin typeface="Garet Bold"/>
                <a:ea typeface="Garet Bold"/>
                <a:cs typeface="Garet Bold"/>
                <a:sym typeface="Garet Bold"/>
              </a:rPr>
              <a:t>DETECTAMOS UNA NECESIDAD: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83172" y="1993566"/>
            <a:ext cx="8352502" cy="5551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4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Muchas personas quieren comenzar a entrenar, pero no saben cómo hacerlo.</a:t>
            </a:r>
          </a:p>
          <a:p>
            <a:pPr algn="l">
              <a:lnSpc>
                <a:spcPts val="3449"/>
              </a:lnSpc>
            </a:pPr>
            <a:endParaRPr lang="en-US" sz="22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96569" lvl="1" indent="-248284" algn="l">
              <a:lnSpc>
                <a:spcPts val="34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Los principiantes pueden tener dudas sobre ejercicios y máquinas.</a:t>
            </a:r>
          </a:p>
          <a:p>
            <a:pPr algn="l">
              <a:lnSpc>
                <a:spcPts val="3449"/>
              </a:lnSpc>
            </a:pPr>
            <a:endParaRPr lang="en-US" sz="22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96569" lvl="1" indent="-248284" algn="l">
              <a:lnSpc>
                <a:spcPts val="34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Existe dificultad para organizar el entrenamiento y alimentación en función de un objetivo.</a:t>
            </a:r>
          </a:p>
          <a:p>
            <a:pPr algn="l">
              <a:lnSpc>
                <a:spcPts val="3449"/>
              </a:lnSpc>
            </a:pPr>
            <a:endParaRPr lang="en-US" sz="22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496569" lvl="1" indent="-248284" algn="l">
              <a:lnSpc>
                <a:spcPts val="344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 todas las personas cuentan con los recursos para contratar un entrenador personal o asesor nutricional.</a:t>
            </a:r>
          </a:p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endParaRPr lang="en-US" sz="22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983172" y="7525686"/>
            <a:ext cx="7354741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  <a:spcBef>
                <a:spcPct val="0"/>
              </a:spcBef>
            </a:pPr>
            <a:r>
              <a:rPr lang="en-US" sz="2999" b="1">
                <a:solidFill>
                  <a:srgbClr val="CEE452"/>
                </a:solidFill>
                <a:latin typeface="Garet Bold"/>
                <a:ea typeface="Garet Bold"/>
                <a:cs typeface="Garet Bold"/>
                <a:sym typeface="Garet Bold"/>
              </a:rPr>
              <a:t>NUESTRA PROPUESTA: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983172" y="8182911"/>
            <a:ext cx="8352502" cy="126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Utilizar la tecnología para centralizar estas herramientas en una aplicación accesible y fácil de utilizar.</a:t>
            </a:r>
          </a:p>
        </p:txBody>
      </p:sp>
      <p:sp>
        <p:nvSpPr>
          <p:cNvPr id="7" name="Freeform 7"/>
          <p:cNvSpPr/>
          <p:nvPr/>
        </p:nvSpPr>
        <p:spPr>
          <a:xfrm>
            <a:off x="1028700" y="5400277"/>
            <a:ext cx="1874008" cy="993224"/>
          </a:xfrm>
          <a:custGeom>
            <a:avLst/>
            <a:gdLst/>
            <a:ahLst/>
            <a:cxnLst/>
            <a:rect l="l" t="t" r="r" b="b"/>
            <a:pathLst>
              <a:path w="1874008" h="993224">
                <a:moveTo>
                  <a:pt x="0" y="0"/>
                </a:moveTo>
                <a:lnTo>
                  <a:pt x="1874008" y="0"/>
                </a:lnTo>
                <a:lnTo>
                  <a:pt x="1874008" y="993224"/>
                </a:lnTo>
                <a:lnTo>
                  <a:pt x="0" y="993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1999" y="699872"/>
            <a:ext cx="8109779" cy="25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99"/>
              </a:lnSpc>
              <a:spcBef>
                <a:spcPct val="0"/>
              </a:spcBef>
            </a:pPr>
            <a:r>
              <a:rPr lang="en-US" sz="84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¿A QUIÉN ESTÁ DIRIGIDO?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3101693" y="4113168"/>
            <a:ext cx="2770392" cy="1506401"/>
          </a:xfrm>
          <a:custGeom>
            <a:avLst/>
            <a:gdLst/>
            <a:ahLst/>
            <a:cxnLst/>
            <a:rect l="l" t="t" r="r" b="b"/>
            <a:pathLst>
              <a:path w="2770392" h="1506401">
                <a:moveTo>
                  <a:pt x="0" y="0"/>
                </a:moveTo>
                <a:lnTo>
                  <a:pt x="2770391" y="0"/>
                </a:lnTo>
                <a:lnTo>
                  <a:pt x="2770391" y="1506400"/>
                </a:lnTo>
                <a:lnTo>
                  <a:pt x="0" y="1506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431999" y="6489689"/>
            <a:ext cx="8115300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Personas mayores de 18 años que desean mejorar su condición física y hábitos de alimentación, especialmente principiantes que entrenan en casa o gimnasio.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484874" y="699872"/>
            <a:ext cx="8109779" cy="2571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99"/>
              </a:lnSpc>
              <a:spcBef>
                <a:spcPct val="0"/>
              </a:spcBef>
            </a:pPr>
            <a:r>
              <a:rPr lang="en-US" sz="8499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LAS PERSONAS PUEDEN NO SABER:</a:t>
            </a:r>
          </a:p>
        </p:txBody>
      </p:sp>
      <p:sp>
        <p:nvSpPr>
          <p:cNvPr id="6" name="Freeform 6"/>
          <p:cNvSpPr/>
          <p:nvPr/>
        </p:nvSpPr>
        <p:spPr>
          <a:xfrm rot="5400000">
            <a:off x="12154567" y="4113168"/>
            <a:ext cx="2770392" cy="1506401"/>
          </a:xfrm>
          <a:custGeom>
            <a:avLst/>
            <a:gdLst/>
            <a:ahLst/>
            <a:cxnLst/>
            <a:rect l="l" t="t" r="r" b="b"/>
            <a:pathLst>
              <a:path w="2770392" h="1506401">
                <a:moveTo>
                  <a:pt x="0" y="0"/>
                </a:moveTo>
                <a:lnTo>
                  <a:pt x="2770392" y="0"/>
                </a:lnTo>
                <a:lnTo>
                  <a:pt x="2770392" y="1506400"/>
                </a:lnTo>
                <a:lnTo>
                  <a:pt x="0" y="1506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TextBox 7"/>
          <p:cNvSpPr txBox="1"/>
          <p:nvPr/>
        </p:nvSpPr>
        <p:spPr>
          <a:xfrm>
            <a:off x="9813506" y="6480164"/>
            <a:ext cx="8115300" cy="344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Qué ejercicios realizar.</a:t>
            </a:r>
          </a:p>
          <a:p>
            <a:pPr algn="l">
              <a:lnSpc>
                <a:spcPts val="2750"/>
              </a:lnSpc>
            </a:pPr>
            <a:endParaRPr lang="en-US" sz="25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Cómo utilizar correctamente una máquina.</a:t>
            </a:r>
          </a:p>
          <a:p>
            <a:pPr algn="l">
              <a:lnSpc>
                <a:spcPts val="2750"/>
              </a:lnSpc>
            </a:pPr>
            <a:endParaRPr lang="en-US" sz="25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Cómo estructurar una rutina.</a:t>
            </a:r>
          </a:p>
          <a:p>
            <a:pPr algn="l">
              <a:lnSpc>
                <a:spcPts val="2750"/>
              </a:lnSpc>
            </a:pPr>
            <a:endParaRPr lang="en-US" sz="25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Cuáles son sus requerimientos calóricos.</a:t>
            </a:r>
          </a:p>
          <a:p>
            <a:pPr algn="l">
              <a:lnSpc>
                <a:spcPts val="2750"/>
              </a:lnSpc>
            </a:pPr>
            <a:endParaRPr lang="en-US" sz="25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39753" lvl="1" indent="-269876" algn="l">
              <a:lnSpc>
                <a:spcPts val="2750"/>
              </a:lnSpc>
              <a:buFont typeface="Arial"/>
              <a:buChar char="•"/>
            </a:pPr>
            <a:r>
              <a:rPr lang="en-US" sz="2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Cómo organizar su alimentación.</a:t>
            </a:r>
          </a:p>
          <a:p>
            <a:pPr algn="l">
              <a:lnSpc>
                <a:spcPts val="2750"/>
              </a:lnSpc>
            </a:pPr>
            <a:endParaRPr lang="en-US" sz="25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188109" y="4549120"/>
            <a:ext cx="5454647" cy="981836"/>
          </a:xfrm>
          <a:custGeom>
            <a:avLst/>
            <a:gdLst/>
            <a:ahLst/>
            <a:cxnLst/>
            <a:rect l="l" t="t" r="r" b="b"/>
            <a:pathLst>
              <a:path w="5454647" h="981836">
                <a:moveTo>
                  <a:pt x="0" y="0"/>
                </a:moveTo>
                <a:lnTo>
                  <a:pt x="5454647" y="0"/>
                </a:lnTo>
                <a:lnTo>
                  <a:pt x="5454647" y="981836"/>
                </a:lnTo>
                <a:lnTo>
                  <a:pt x="0" y="9818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1028700" y="1634395"/>
            <a:ext cx="3353114" cy="7151193"/>
            <a:chOff x="0" y="0"/>
            <a:chExt cx="4470819" cy="9534924"/>
          </a:xfrm>
        </p:grpSpPr>
        <p:grpSp>
          <p:nvGrpSpPr>
            <p:cNvPr id="4" name="Group 4"/>
            <p:cNvGrpSpPr/>
            <p:nvPr/>
          </p:nvGrpSpPr>
          <p:grpSpPr>
            <a:xfrm rot="-5400000">
              <a:off x="1892901" y="462406"/>
              <a:ext cx="1404328" cy="3751508"/>
              <a:chOff x="0" y="0"/>
              <a:chExt cx="281155" cy="75107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281155" cy="751074"/>
              </a:xfrm>
              <a:custGeom>
                <a:avLst/>
                <a:gdLst/>
                <a:ahLst/>
                <a:cxnLst/>
                <a:rect l="l" t="t" r="r" b="b"/>
                <a:pathLst>
                  <a:path w="281155" h="751074">
                    <a:moveTo>
                      <a:pt x="281155" y="0"/>
                    </a:moveTo>
                    <a:lnTo>
                      <a:pt x="281155" y="636774"/>
                    </a:lnTo>
                    <a:lnTo>
                      <a:pt x="140577" y="751074"/>
                    </a:lnTo>
                    <a:lnTo>
                      <a:pt x="0" y="636774"/>
                    </a:lnTo>
                    <a:lnTo>
                      <a:pt x="0" y="0"/>
                    </a:lnTo>
                    <a:lnTo>
                      <a:pt x="281155" y="0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47625"/>
                <a:ext cx="281155" cy="684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 rot="-5400000">
              <a:off x="1892901" y="-1139296"/>
              <a:ext cx="1404328" cy="3751508"/>
              <a:chOff x="0" y="0"/>
              <a:chExt cx="281155" cy="75107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81155" cy="751074"/>
              </a:xfrm>
              <a:custGeom>
                <a:avLst/>
                <a:gdLst/>
                <a:ahLst/>
                <a:cxnLst/>
                <a:rect l="l" t="t" r="r" b="b"/>
                <a:pathLst>
                  <a:path w="281155" h="751074">
                    <a:moveTo>
                      <a:pt x="281155" y="0"/>
                    </a:moveTo>
                    <a:lnTo>
                      <a:pt x="281155" y="636774"/>
                    </a:lnTo>
                    <a:lnTo>
                      <a:pt x="140577" y="751074"/>
                    </a:lnTo>
                    <a:lnTo>
                      <a:pt x="0" y="636774"/>
                    </a:lnTo>
                    <a:lnTo>
                      <a:pt x="0" y="0"/>
                    </a:lnTo>
                    <a:lnTo>
                      <a:pt x="281155" y="0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281155" cy="684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1618112"/>
              <a:ext cx="1438622" cy="1438622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655320" y="655320"/>
                <a:ext cx="5039360" cy="5039360"/>
              </a:xfrm>
              <a:custGeom>
                <a:avLst/>
                <a:gdLst/>
                <a:ahLst/>
                <a:cxnLst/>
                <a:rect l="l" t="t" r="r" b="b"/>
                <a:pathLst>
                  <a:path w="5039360" h="5039360">
                    <a:moveTo>
                      <a:pt x="2519680" y="0"/>
                    </a:moveTo>
                    <a:cubicBezTo>
                      <a:pt x="1127760" y="0"/>
                      <a:pt x="0" y="1127760"/>
                      <a:pt x="0" y="2519680"/>
                    </a:cubicBezTo>
                    <a:cubicBezTo>
                      <a:pt x="0" y="3911600"/>
                      <a:pt x="1127760" y="5039360"/>
                      <a:pt x="2519680" y="5039360"/>
                    </a:cubicBezTo>
                    <a:cubicBezTo>
                      <a:pt x="3911600" y="5039360"/>
                      <a:pt x="5039360" y="3911600"/>
                      <a:pt x="5039360" y="2519680"/>
                    </a:cubicBezTo>
                    <a:cubicBezTo>
                      <a:pt x="5039360" y="1127760"/>
                      <a:pt x="3911600" y="0"/>
                      <a:pt x="2519680" y="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2" name="Freeform 12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3670" y="0"/>
                      <a:pt x="0" y="1424940"/>
                      <a:pt x="0" y="3175000"/>
                    </a:cubicBezTo>
                    <a:cubicBezTo>
                      <a:pt x="0" y="4925060"/>
                      <a:pt x="1423670" y="6350000"/>
                      <a:pt x="3175000" y="6350000"/>
                    </a:cubicBezTo>
                    <a:cubicBezTo>
                      <a:pt x="4925060" y="6350000"/>
                      <a:pt x="6350000" y="4926330"/>
                      <a:pt x="6350000" y="3175000"/>
                    </a:cubicBezTo>
                    <a:cubicBezTo>
                      <a:pt x="6350000" y="1424940"/>
                      <a:pt x="4926330" y="0"/>
                      <a:pt x="3175000" y="0"/>
                    </a:cubicBezTo>
                    <a:close/>
                    <a:moveTo>
                      <a:pt x="3175000" y="5833110"/>
                    </a:moveTo>
                    <a:cubicBezTo>
                      <a:pt x="1709420" y="5833110"/>
                      <a:pt x="516890" y="4640580"/>
                      <a:pt x="516890" y="3175000"/>
                    </a:cubicBezTo>
                    <a:cubicBezTo>
                      <a:pt x="516890" y="1709420"/>
                      <a:pt x="1709420" y="516890"/>
                      <a:pt x="3175000" y="516890"/>
                    </a:cubicBezTo>
                    <a:cubicBezTo>
                      <a:pt x="4640580" y="516890"/>
                      <a:pt x="5833110" y="1709420"/>
                      <a:pt x="5833110" y="3175000"/>
                    </a:cubicBezTo>
                    <a:cubicBezTo>
                      <a:pt x="5833110" y="4640580"/>
                      <a:pt x="4640580" y="5833110"/>
                      <a:pt x="3175000" y="583311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13" name="Group 13"/>
            <p:cNvGrpSpPr>
              <a:grpSpLocks noChangeAspect="1"/>
            </p:cNvGrpSpPr>
            <p:nvPr/>
          </p:nvGrpSpPr>
          <p:grpSpPr>
            <a:xfrm>
              <a:off x="0" y="0"/>
              <a:ext cx="1438622" cy="1438622"/>
              <a:chOff x="0" y="0"/>
              <a:chExt cx="6350000" cy="63500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655320" y="655320"/>
                <a:ext cx="5039360" cy="5039360"/>
              </a:xfrm>
              <a:custGeom>
                <a:avLst/>
                <a:gdLst/>
                <a:ahLst/>
                <a:cxnLst/>
                <a:rect l="l" t="t" r="r" b="b"/>
                <a:pathLst>
                  <a:path w="5039360" h="5039360">
                    <a:moveTo>
                      <a:pt x="2519680" y="0"/>
                    </a:moveTo>
                    <a:cubicBezTo>
                      <a:pt x="1127760" y="0"/>
                      <a:pt x="0" y="1127760"/>
                      <a:pt x="0" y="2519680"/>
                    </a:cubicBezTo>
                    <a:cubicBezTo>
                      <a:pt x="0" y="3911600"/>
                      <a:pt x="1127760" y="5039360"/>
                      <a:pt x="2519680" y="5039360"/>
                    </a:cubicBezTo>
                    <a:cubicBezTo>
                      <a:pt x="3911600" y="5039360"/>
                      <a:pt x="5039360" y="3911600"/>
                      <a:pt x="5039360" y="2519680"/>
                    </a:cubicBezTo>
                    <a:cubicBezTo>
                      <a:pt x="5039360" y="1127760"/>
                      <a:pt x="3911600" y="0"/>
                      <a:pt x="2519680" y="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5" name="Freeform 1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3670" y="0"/>
                      <a:pt x="0" y="1424940"/>
                      <a:pt x="0" y="3175000"/>
                    </a:cubicBezTo>
                    <a:cubicBezTo>
                      <a:pt x="0" y="4925060"/>
                      <a:pt x="1423670" y="6350000"/>
                      <a:pt x="3175000" y="6350000"/>
                    </a:cubicBezTo>
                    <a:cubicBezTo>
                      <a:pt x="4925060" y="6350000"/>
                      <a:pt x="6350000" y="4926330"/>
                      <a:pt x="6350000" y="3175000"/>
                    </a:cubicBezTo>
                    <a:cubicBezTo>
                      <a:pt x="6350000" y="1424940"/>
                      <a:pt x="4926330" y="0"/>
                      <a:pt x="3175000" y="0"/>
                    </a:cubicBezTo>
                    <a:close/>
                    <a:moveTo>
                      <a:pt x="3175000" y="5833110"/>
                    </a:moveTo>
                    <a:cubicBezTo>
                      <a:pt x="1709420" y="5833110"/>
                      <a:pt x="516890" y="4640580"/>
                      <a:pt x="516890" y="3175000"/>
                    </a:cubicBezTo>
                    <a:cubicBezTo>
                      <a:pt x="516890" y="1709420"/>
                      <a:pt x="1709420" y="516890"/>
                      <a:pt x="3175000" y="516890"/>
                    </a:cubicBezTo>
                    <a:cubicBezTo>
                      <a:pt x="4640580" y="516890"/>
                      <a:pt x="5833110" y="1709420"/>
                      <a:pt x="5833110" y="3175000"/>
                    </a:cubicBezTo>
                    <a:cubicBezTo>
                      <a:pt x="5833110" y="4640580"/>
                      <a:pt x="4640580" y="5833110"/>
                      <a:pt x="3175000" y="583311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 rot="-5400000">
              <a:off x="1892901" y="3701501"/>
              <a:ext cx="1404328" cy="3751508"/>
              <a:chOff x="0" y="0"/>
              <a:chExt cx="281155" cy="751074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155" cy="751074"/>
              </a:xfrm>
              <a:custGeom>
                <a:avLst/>
                <a:gdLst/>
                <a:ahLst/>
                <a:cxnLst/>
                <a:rect l="l" t="t" r="r" b="b"/>
                <a:pathLst>
                  <a:path w="281155" h="751074">
                    <a:moveTo>
                      <a:pt x="281155" y="0"/>
                    </a:moveTo>
                    <a:lnTo>
                      <a:pt x="281155" y="636774"/>
                    </a:lnTo>
                    <a:lnTo>
                      <a:pt x="140577" y="751074"/>
                    </a:lnTo>
                    <a:lnTo>
                      <a:pt x="0" y="636774"/>
                    </a:lnTo>
                    <a:lnTo>
                      <a:pt x="0" y="0"/>
                    </a:lnTo>
                    <a:lnTo>
                      <a:pt x="281155" y="0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47625"/>
                <a:ext cx="281155" cy="684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>
              <a:grpSpLocks noChangeAspect="1"/>
            </p:cNvGrpSpPr>
            <p:nvPr/>
          </p:nvGrpSpPr>
          <p:grpSpPr>
            <a:xfrm>
              <a:off x="0" y="4857207"/>
              <a:ext cx="1438622" cy="1438622"/>
              <a:chOff x="0" y="0"/>
              <a:chExt cx="6350000" cy="635000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655320" y="655320"/>
                <a:ext cx="5039360" cy="5039360"/>
              </a:xfrm>
              <a:custGeom>
                <a:avLst/>
                <a:gdLst/>
                <a:ahLst/>
                <a:cxnLst/>
                <a:rect l="l" t="t" r="r" b="b"/>
                <a:pathLst>
                  <a:path w="5039360" h="5039360">
                    <a:moveTo>
                      <a:pt x="2519680" y="0"/>
                    </a:moveTo>
                    <a:cubicBezTo>
                      <a:pt x="1127760" y="0"/>
                      <a:pt x="0" y="1127760"/>
                      <a:pt x="0" y="2519680"/>
                    </a:cubicBezTo>
                    <a:cubicBezTo>
                      <a:pt x="0" y="3911600"/>
                      <a:pt x="1127760" y="5039360"/>
                      <a:pt x="2519680" y="5039360"/>
                    </a:cubicBezTo>
                    <a:cubicBezTo>
                      <a:pt x="3911600" y="5039360"/>
                      <a:pt x="5039360" y="3911600"/>
                      <a:pt x="5039360" y="2519680"/>
                    </a:cubicBezTo>
                    <a:cubicBezTo>
                      <a:pt x="5039360" y="1127760"/>
                      <a:pt x="3911600" y="0"/>
                      <a:pt x="2519680" y="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1" name="Freeform 2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3670" y="0"/>
                      <a:pt x="0" y="1424940"/>
                      <a:pt x="0" y="3175000"/>
                    </a:cubicBezTo>
                    <a:cubicBezTo>
                      <a:pt x="0" y="4925060"/>
                      <a:pt x="1423670" y="6350000"/>
                      <a:pt x="3175000" y="6350000"/>
                    </a:cubicBezTo>
                    <a:cubicBezTo>
                      <a:pt x="4925060" y="6350000"/>
                      <a:pt x="6350000" y="4926330"/>
                      <a:pt x="6350000" y="3175000"/>
                    </a:cubicBezTo>
                    <a:cubicBezTo>
                      <a:pt x="6350000" y="1424940"/>
                      <a:pt x="4926330" y="0"/>
                      <a:pt x="3175000" y="0"/>
                    </a:cubicBezTo>
                    <a:close/>
                    <a:moveTo>
                      <a:pt x="3175000" y="5833110"/>
                    </a:moveTo>
                    <a:cubicBezTo>
                      <a:pt x="1709420" y="5833110"/>
                      <a:pt x="516890" y="4640580"/>
                      <a:pt x="516890" y="3175000"/>
                    </a:cubicBezTo>
                    <a:cubicBezTo>
                      <a:pt x="516890" y="1709420"/>
                      <a:pt x="1709420" y="516890"/>
                      <a:pt x="3175000" y="516890"/>
                    </a:cubicBezTo>
                    <a:cubicBezTo>
                      <a:pt x="4640580" y="516890"/>
                      <a:pt x="5833110" y="1709420"/>
                      <a:pt x="5833110" y="3175000"/>
                    </a:cubicBezTo>
                    <a:cubicBezTo>
                      <a:pt x="5833110" y="4640580"/>
                      <a:pt x="4640580" y="5833110"/>
                      <a:pt x="3175000" y="583311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 rot="-5400000">
              <a:off x="1892901" y="2099799"/>
              <a:ext cx="1404328" cy="3751508"/>
              <a:chOff x="0" y="0"/>
              <a:chExt cx="281155" cy="75107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281155" cy="751074"/>
              </a:xfrm>
              <a:custGeom>
                <a:avLst/>
                <a:gdLst/>
                <a:ahLst/>
                <a:cxnLst/>
                <a:rect l="l" t="t" r="r" b="b"/>
                <a:pathLst>
                  <a:path w="281155" h="751074">
                    <a:moveTo>
                      <a:pt x="281155" y="0"/>
                    </a:moveTo>
                    <a:lnTo>
                      <a:pt x="281155" y="636774"/>
                    </a:lnTo>
                    <a:lnTo>
                      <a:pt x="140577" y="751074"/>
                    </a:lnTo>
                    <a:lnTo>
                      <a:pt x="0" y="636774"/>
                    </a:lnTo>
                    <a:lnTo>
                      <a:pt x="0" y="0"/>
                    </a:lnTo>
                    <a:lnTo>
                      <a:pt x="281155" y="0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47625"/>
                <a:ext cx="281155" cy="684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>
              <a:off x="0" y="3239095"/>
              <a:ext cx="1438622" cy="1438622"/>
              <a:chOff x="0" y="0"/>
              <a:chExt cx="6350000" cy="63500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655320" y="655320"/>
                <a:ext cx="5039360" cy="5039360"/>
              </a:xfrm>
              <a:custGeom>
                <a:avLst/>
                <a:gdLst/>
                <a:ahLst/>
                <a:cxnLst/>
                <a:rect l="l" t="t" r="r" b="b"/>
                <a:pathLst>
                  <a:path w="5039360" h="5039360">
                    <a:moveTo>
                      <a:pt x="2519680" y="0"/>
                    </a:moveTo>
                    <a:cubicBezTo>
                      <a:pt x="1127760" y="0"/>
                      <a:pt x="0" y="1127760"/>
                      <a:pt x="0" y="2519680"/>
                    </a:cubicBezTo>
                    <a:cubicBezTo>
                      <a:pt x="0" y="3911600"/>
                      <a:pt x="1127760" y="5039360"/>
                      <a:pt x="2519680" y="5039360"/>
                    </a:cubicBezTo>
                    <a:cubicBezTo>
                      <a:pt x="3911600" y="5039360"/>
                      <a:pt x="5039360" y="3911600"/>
                      <a:pt x="5039360" y="2519680"/>
                    </a:cubicBezTo>
                    <a:cubicBezTo>
                      <a:pt x="5039360" y="1127760"/>
                      <a:pt x="3911600" y="0"/>
                      <a:pt x="2519680" y="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3670" y="0"/>
                      <a:pt x="0" y="1424940"/>
                      <a:pt x="0" y="3175000"/>
                    </a:cubicBezTo>
                    <a:cubicBezTo>
                      <a:pt x="0" y="4925060"/>
                      <a:pt x="1423670" y="6350000"/>
                      <a:pt x="3175000" y="6350000"/>
                    </a:cubicBezTo>
                    <a:cubicBezTo>
                      <a:pt x="4925060" y="6350000"/>
                      <a:pt x="6350000" y="4926330"/>
                      <a:pt x="6350000" y="3175000"/>
                    </a:cubicBezTo>
                    <a:cubicBezTo>
                      <a:pt x="6350000" y="1424940"/>
                      <a:pt x="4926330" y="0"/>
                      <a:pt x="3175000" y="0"/>
                    </a:cubicBezTo>
                    <a:close/>
                    <a:moveTo>
                      <a:pt x="3175000" y="5833110"/>
                    </a:moveTo>
                    <a:cubicBezTo>
                      <a:pt x="1709420" y="5833110"/>
                      <a:pt x="516890" y="4640580"/>
                      <a:pt x="516890" y="3175000"/>
                    </a:cubicBezTo>
                    <a:cubicBezTo>
                      <a:pt x="516890" y="1709420"/>
                      <a:pt x="1709420" y="516890"/>
                      <a:pt x="3175000" y="516890"/>
                    </a:cubicBezTo>
                    <a:cubicBezTo>
                      <a:pt x="4640580" y="516890"/>
                      <a:pt x="5833110" y="1709420"/>
                      <a:pt x="5833110" y="3175000"/>
                    </a:cubicBezTo>
                    <a:cubicBezTo>
                      <a:pt x="5833110" y="4640580"/>
                      <a:pt x="4640580" y="5833110"/>
                      <a:pt x="3175000" y="583311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 rot="-5400000">
              <a:off x="1892901" y="6940596"/>
              <a:ext cx="1404328" cy="3751508"/>
              <a:chOff x="0" y="0"/>
              <a:chExt cx="281155" cy="751074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281155" cy="751074"/>
              </a:xfrm>
              <a:custGeom>
                <a:avLst/>
                <a:gdLst/>
                <a:ahLst/>
                <a:cxnLst/>
                <a:rect l="l" t="t" r="r" b="b"/>
                <a:pathLst>
                  <a:path w="281155" h="751074">
                    <a:moveTo>
                      <a:pt x="281155" y="0"/>
                    </a:moveTo>
                    <a:lnTo>
                      <a:pt x="281155" y="636774"/>
                    </a:lnTo>
                    <a:lnTo>
                      <a:pt x="140577" y="751074"/>
                    </a:lnTo>
                    <a:lnTo>
                      <a:pt x="0" y="636774"/>
                    </a:lnTo>
                    <a:lnTo>
                      <a:pt x="0" y="0"/>
                    </a:lnTo>
                    <a:lnTo>
                      <a:pt x="281155" y="0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47625"/>
                <a:ext cx="281155" cy="684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1" name="Group 31"/>
            <p:cNvGrpSpPr>
              <a:grpSpLocks noChangeAspect="1"/>
            </p:cNvGrpSpPr>
            <p:nvPr/>
          </p:nvGrpSpPr>
          <p:grpSpPr>
            <a:xfrm>
              <a:off x="0" y="8096302"/>
              <a:ext cx="1438622" cy="1438622"/>
              <a:chOff x="0" y="0"/>
              <a:chExt cx="6350000" cy="63500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55320" y="655320"/>
                <a:ext cx="5039360" cy="5039360"/>
              </a:xfrm>
              <a:custGeom>
                <a:avLst/>
                <a:gdLst/>
                <a:ahLst/>
                <a:cxnLst/>
                <a:rect l="l" t="t" r="r" b="b"/>
                <a:pathLst>
                  <a:path w="5039360" h="5039360">
                    <a:moveTo>
                      <a:pt x="2519680" y="0"/>
                    </a:moveTo>
                    <a:cubicBezTo>
                      <a:pt x="1127760" y="0"/>
                      <a:pt x="0" y="1127760"/>
                      <a:pt x="0" y="2519680"/>
                    </a:cubicBezTo>
                    <a:cubicBezTo>
                      <a:pt x="0" y="3911600"/>
                      <a:pt x="1127760" y="5039360"/>
                      <a:pt x="2519680" y="5039360"/>
                    </a:cubicBezTo>
                    <a:cubicBezTo>
                      <a:pt x="3911600" y="5039360"/>
                      <a:pt x="5039360" y="3911600"/>
                      <a:pt x="5039360" y="2519680"/>
                    </a:cubicBezTo>
                    <a:cubicBezTo>
                      <a:pt x="5039360" y="1127760"/>
                      <a:pt x="3911600" y="0"/>
                      <a:pt x="2519680" y="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3" name="Freeform 3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3670" y="0"/>
                      <a:pt x="0" y="1424940"/>
                      <a:pt x="0" y="3175000"/>
                    </a:cubicBezTo>
                    <a:cubicBezTo>
                      <a:pt x="0" y="4925060"/>
                      <a:pt x="1423670" y="6350000"/>
                      <a:pt x="3175000" y="6350000"/>
                    </a:cubicBezTo>
                    <a:cubicBezTo>
                      <a:pt x="4925060" y="6350000"/>
                      <a:pt x="6350000" y="4926330"/>
                      <a:pt x="6350000" y="3175000"/>
                    </a:cubicBezTo>
                    <a:cubicBezTo>
                      <a:pt x="6350000" y="1424940"/>
                      <a:pt x="4926330" y="0"/>
                      <a:pt x="3175000" y="0"/>
                    </a:cubicBezTo>
                    <a:close/>
                    <a:moveTo>
                      <a:pt x="3175000" y="5833110"/>
                    </a:moveTo>
                    <a:cubicBezTo>
                      <a:pt x="1709420" y="5833110"/>
                      <a:pt x="516890" y="4640580"/>
                      <a:pt x="516890" y="3175000"/>
                    </a:cubicBezTo>
                    <a:cubicBezTo>
                      <a:pt x="516890" y="1709420"/>
                      <a:pt x="1709420" y="516890"/>
                      <a:pt x="3175000" y="516890"/>
                    </a:cubicBezTo>
                    <a:cubicBezTo>
                      <a:pt x="4640580" y="516890"/>
                      <a:pt x="5833110" y="1709420"/>
                      <a:pt x="5833110" y="3175000"/>
                    </a:cubicBezTo>
                    <a:cubicBezTo>
                      <a:pt x="5833110" y="4640580"/>
                      <a:pt x="4640580" y="5833110"/>
                      <a:pt x="3175000" y="583311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 rot="-5400000">
              <a:off x="1892901" y="5338894"/>
              <a:ext cx="1404328" cy="3751508"/>
              <a:chOff x="0" y="0"/>
              <a:chExt cx="281155" cy="75107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281155" cy="751074"/>
              </a:xfrm>
              <a:custGeom>
                <a:avLst/>
                <a:gdLst/>
                <a:ahLst/>
                <a:cxnLst/>
                <a:rect l="l" t="t" r="r" b="b"/>
                <a:pathLst>
                  <a:path w="281155" h="751074">
                    <a:moveTo>
                      <a:pt x="281155" y="0"/>
                    </a:moveTo>
                    <a:lnTo>
                      <a:pt x="281155" y="636774"/>
                    </a:lnTo>
                    <a:lnTo>
                      <a:pt x="140577" y="751074"/>
                    </a:lnTo>
                    <a:lnTo>
                      <a:pt x="0" y="636774"/>
                    </a:lnTo>
                    <a:lnTo>
                      <a:pt x="0" y="0"/>
                    </a:lnTo>
                    <a:lnTo>
                      <a:pt x="281155" y="0"/>
                    </a:lnTo>
                    <a:close/>
                  </a:path>
                </a:pathLst>
              </a:custGeom>
              <a:solidFill>
                <a:srgbClr val="FFFFFF">
                  <a:alpha val="30980"/>
                </a:srgbClr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0" y="-47625"/>
                <a:ext cx="281155" cy="6843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7" name="Group 37"/>
            <p:cNvGrpSpPr>
              <a:grpSpLocks noChangeAspect="1"/>
            </p:cNvGrpSpPr>
            <p:nvPr/>
          </p:nvGrpSpPr>
          <p:grpSpPr>
            <a:xfrm>
              <a:off x="0" y="6478190"/>
              <a:ext cx="1438622" cy="1438622"/>
              <a:chOff x="0" y="0"/>
              <a:chExt cx="6350000" cy="63500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655320" y="655320"/>
                <a:ext cx="5039360" cy="5039360"/>
              </a:xfrm>
              <a:custGeom>
                <a:avLst/>
                <a:gdLst/>
                <a:ahLst/>
                <a:cxnLst/>
                <a:rect l="l" t="t" r="r" b="b"/>
                <a:pathLst>
                  <a:path w="5039360" h="5039360">
                    <a:moveTo>
                      <a:pt x="2519680" y="0"/>
                    </a:moveTo>
                    <a:cubicBezTo>
                      <a:pt x="1127760" y="0"/>
                      <a:pt x="0" y="1127760"/>
                      <a:pt x="0" y="2519680"/>
                    </a:cubicBezTo>
                    <a:cubicBezTo>
                      <a:pt x="0" y="3911600"/>
                      <a:pt x="1127760" y="5039360"/>
                      <a:pt x="2519680" y="5039360"/>
                    </a:cubicBezTo>
                    <a:cubicBezTo>
                      <a:pt x="3911600" y="5039360"/>
                      <a:pt x="5039360" y="3911600"/>
                      <a:pt x="5039360" y="2519680"/>
                    </a:cubicBezTo>
                    <a:cubicBezTo>
                      <a:pt x="5039360" y="1127760"/>
                      <a:pt x="3911600" y="0"/>
                      <a:pt x="2519680" y="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3670" y="0"/>
                      <a:pt x="0" y="1424940"/>
                      <a:pt x="0" y="3175000"/>
                    </a:cubicBezTo>
                    <a:cubicBezTo>
                      <a:pt x="0" y="4925060"/>
                      <a:pt x="1423670" y="6350000"/>
                      <a:pt x="3175000" y="6350000"/>
                    </a:cubicBezTo>
                    <a:cubicBezTo>
                      <a:pt x="4925060" y="6350000"/>
                      <a:pt x="6350000" y="4926330"/>
                      <a:pt x="6350000" y="3175000"/>
                    </a:cubicBezTo>
                    <a:cubicBezTo>
                      <a:pt x="6350000" y="1424940"/>
                      <a:pt x="4926330" y="0"/>
                      <a:pt x="3175000" y="0"/>
                    </a:cubicBezTo>
                    <a:close/>
                    <a:moveTo>
                      <a:pt x="3175000" y="5833110"/>
                    </a:moveTo>
                    <a:cubicBezTo>
                      <a:pt x="1709420" y="5833110"/>
                      <a:pt x="516890" y="4640580"/>
                      <a:pt x="516890" y="3175000"/>
                    </a:cubicBezTo>
                    <a:cubicBezTo>
                      <a:pt x="516890" y="1709420"/>
                      <a:pt x="1709420" y="516890"/>
                      <a:pt x="3175000" y="516890"/>
                    </a:cubicBezTo>
                    <a:cubicBezTo>
                      <a:pt x="4640580" y="516890"/>
                      <a:pt x="5833110" y="1709420"/>
                      <a:pt x="5833110" y="3175000"/>
                    </a:cubicBezTo>
                    <a:cubicBezTo>
                      <a:pt x="5833110" y="4640580"/>
                      <a:pt x="4640580" y="5833110"/>
                      <a:pt x="3175000" y="5833110"/>
                    </a:cubicBezTo>
                    <a:close/>
                  </a:path>
                </a:pathLst>
              </a:custGeom>
              <a:solidFill>
                <a:srgbClr val="CEE452"/>
              </a:solidFill>
            </p:spPr>
            <p:txBody>
              <a:bodyPr/>
              <a:lstStyle/>
              <a:p>
                <a:endParaRPr lang="es-CL"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24223" y="168103"/>
              <a:ext cx="1165605" cy="10717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36"/>
                </a:lnSpc>
                <a:spcBef>
                  <a:spcPct val="0"/>
                </a:spcBef>
              </a:pPr>
              <a:r>
                <a:rPr lang="en-US" sz="5528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🧠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68477" y="1692646"/>
              <a:ext cx="1077096" cy="986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670"/>
                </a:lnSpc>
                <a:spcBef>
                  <a:spcPct val="0"/>
                </a:spcBef>
              </a:pPr>
              <a:r>
                <a:rPr lang="en-US" sz="5108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7631" y="3473078"/>
              <a:ext cx="1006649" cy="9191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299"/>
                </a:lnSpc>
                <a:spcBef>
                  <a:spcPct val="0"/>
                </a:spcBef>
              </a:pPr>
              <a:r>
                <a:rPr lang="en-US" sz="4774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🗄️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2557" y="5062696"/>
              <a:ext cx="1008564" cy="93047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09"/>
                </a:lnSpc>
                <a:spcBef>
                  <a:spcPct val="0"/>
                </a:spcBef>
              </a:pPr>
              <a:r>
                <a:rPr lang="en-US" sz="4783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27631" y="6686264"/>
              <a:ext cx="1032159" cy="9531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433"/>
                </a:lnSpc>
                <a:spcBef>
                  <a:spcPct val="0"/>
                </a:spcBef>
              </a:pPr>
              <a:r>
                <a:rPr lang="en-US" sz="4895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📱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75071" y="8377664"/>
              <a:ext cx="911771" cy="837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00"/>
                </a:lnSpc>
                <a:spcBef>
                  <a:spcPct val="0"/>
                </a:spcBef>
              </a:pPr>
              <a:r>
                <a:rPr lang="en-US" sz="4324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🔄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251913" y="268899"/>
              <a:ext cx="2735153" cy="923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PENSAMIENTO ALGORÍTMICO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353513" y="2123099"/>
              <a:ext cx="2735153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PROGRAMACIÓN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251913" y="3545499"/>
              <a:ext cx="2735153" cy="923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GESTIÓN DE DATOS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51913" y="5393349"/>
              <a:ext cx="2735153" cy="4667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SEGURIDAD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302713" y="6815749"/>
              <a:ext cx="2735153" cy="923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DESARROLLO DE SOLUCIONES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28113" y="8422299"/>
              <a:ext cx="2735153" cy="9239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74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FFFFFF"/>
                  </a:solidFill>
                  <a:latin typeface="Anton"/>
                  <a:ea typeface="Anton"/>
                  <a:cs typeface="Anton"/>
                  <a:sym typeface="Anton"/>
                </a:rPr>
                <a:t>METODOLOGÍAS ÁGILES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449050" y="1482070"/>
            <a:ext cx="5810250" cy="1104900"/>
            <a:chOff x="0" y="0"/>
            <a:chExt cx="1530272" cy="29100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530272" cy="291002"/>
            </a:xfrm>
            <a:custGeom>
              <a:avLst/>
              <a:gdLst/>
              <a:ahLst/>
              <a:cxnLst/>
              <a:rect l="l" t="t" r="r" b="b"/>
              <a:pathLst>
                <a:path w="1530272" h="291002">
                  <a:moveTo>
                    <a:pt x="0" y="0"/>
                  </a:moveTo>
                  <a:lnTo>
                    <a:pt x="1530272" y="0"/>
                  </a:lnTo>
                  <a:lnTo>
                    <a:pt x="1530272" y="291002"/>
                  </a:lnTo>
                  <a:lnTo>
                    <a:pt x="0" y="291002"/>
                  </a:lnTo>
                  <a:close/>
                </a:path>
              </a:pathLst>
            </a:custGeom>
            <a:solidFill>
              <a:srgbClr val="CEE4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28575"/>
              <a:ext cx="1530272" cy="262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4"/>
                </a:lnSpc>
              </a:pPr>
              <a:r>
                <a:rPr lang="en-US" sz="2499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CÁLCULO DE REQUERIMIENTOS Y LÓGICA DE RECOMENDACIONES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449050" y="2739370"/>
            <a:ext cx="5810250" cy="1104900"/>
            <a:chOff x="0" y="0"/>
            <a:chExt cx="1530272" cy="29100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530272" cy="291002"/>
            </a:xfrm>
            <a:custGeom>
              <a:avLst/>
              <a:gdLst/>
              <a:ahLst/>
              <a:cxnLst/>
              <a:rect l="l" t="t" r="r" b="b"/>
              <a:pathLst>
                <a:path w="1530272" h="291002">
                  <a:moveTo>
                    <a:pt x="0" y="0"/>
                  </a:moveTo>
                  <a:lnTo>
                    <a:pt x="1530272" y="0"/>
                  </a:lnTo>
                  <a:lnTo>
                    <a:pt x="1530272" y="291002"/>
                  </a:lnTo>
                  <a:lnTo>
                    <a:pt x="0" y="291002"/>
                  </a:lnTo>
                  <a:close/>
                </a:path>
              </a:pathLst>
            </a:custGeom>
            <a:solidFill>
              <a:srgbClr val="CEE4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28575"/>
              <a:ext cx="1530272" cy="262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4"/>
                </a:lnSpc>
              </a:pPr>
              <a:r>
                <a:rPr lang="en-US" sz="2499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DESARROLLO DE LA APLICACIÓN Y FUNCIONALIDADES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1449050" y="3996670"/>
            <a:ext cx="5810250" cy="1104900"/>
            <a:chOff x="0" y="0"/>
            <a:chExt cx="1530272" cy="291002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530272" cy="291002"/>
            </a:xfrm>
            <a:custGeom>
              <a:avLst/>
              <a:gdLst/>
              <a:ahLst/>
              <a:cxnLst/>
              <a:rect l="l" t="t" r="r" b="b"/>
              <a:pathLst>
                <a:path w="1530272" h="291002">
                  <a:moveTo>
                    <a:pt x="0" y="0"/>
                  </a:moveTo>
                  <a:lnTo>
                    <a:pt x="1530272" y="0"/>
                  </a:lnTo>
                  <a:lnTo>
                    <a:pt x="1530272" y="291002"/>
                  </a:lnTo>
                  <a:lnTo>
                    <a:pt x="0" y="291002"/>
                  </a:lnTo>
                  <a:close/>
                </a:path>
              </a:pathLst>
            </a:custGeom>
            <a:solidFill>
              <a:srgbClr val="CEE4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28575"/>
              <a:ext cx="1530272" cy="262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4"/>
                </a:lnSpc>
              </a:pPr>
              <a:r>
                <a:rPr lang="en-US" sz="2499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USUARIOS, EJERCICIOS, RUTINAS Y MINUTAS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1449050" y="5253970"/>
            <a:ext cx="5810250" cy="1104900"/>
            <a:chOff x="0" y="0"/>
            <a:chExt cx="1530272" cy="291002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530272" cy="291002"/>
            </a:xfrm>
            <a:custGeom>
              <a:avLst/>
              <a:gdLst/>
              <a:ahLst/>
              <a:cxnLst/>
              <a:rect l="l" t="t" r="r" b="b"/>
              <a:pathLst>
                <a:path w="1530272" h="291002">
                  <a:moveTo>
                    <a:pt x="0" y="0"/>
                  </a:moveTo>
                  <a:lnTo>
                    <a:pt x="1530272" y="0"/>
                  </a:lnTo>
                  <a:lnTo>
                    <a:pt x="1530272" y="291002"/>
                  </a:lnTo>
                  <a:lnTo>
                    <a:pt x="0" y="291002"/>
                  </a:lnTo>
                  <a:close/>
                </a:path>
              </a:pathLst>
            </a:custGeom>
            <a:solidFill>
              <a:srgbClr val="CEE4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28575"/>
              <a:ext cx="1530272" cy="262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4"/>
                </a:lnSpc>
              </a:pPr>
              <a:r>
                <a:rPr lang="en-US" sz="2499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PROTECCIÓN DE INFORMACIÓN DE LOS USUARIOS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449050" y="6511270"/>
            <a:ext cx="5810250" cy="1104900"/>
            <a:chOff x="0" y="0"/>
            <a:chExt cx="1530272" cy="29100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530272" cy="291002"/>
            </a:xfrm>
            <a:custGeom>
              <a:avLst/>
              <a:gdLst/>
              <a:ahLst/>
              <a:cxnLst/>
              <a:rect l="l" t="t" r="r" b="b"/>
              <a:pathLst>
                <a:path w="1530272" h="291002">
                  <a:moveTo>
                    <a:pt x="0" y="0"/>
                  </a:moveTo>
                  <a:lnTo>
                    <a:pt x="1530272" y="0"/>
                  </a:lnTo>
                  <a:lnTo>
                    <a:pt x="1530272" y="291002"/>
                  </a:lnTo>
                  <a:lnTo>
                    <a:pt x="0" y="291002"/>
                  </a:lnTo>
                  <a:close/>
                </a:path>
              </a:pathLst>
            </a:custGeom>
            <a:solidFill>
              <a:srgbClr val="CEE4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28575"/>
              <a:ext cx="1530272" cy="262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4"/>
                </a:lnSpc>
              </a:pPr>
              <a:r>
                <a:rPr lang="en-US" sz="2499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CONSTRUCCIÓN DEL PROTOTIPO MÓVIL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449050" y="7768570"/>
            <a:ext cx="5810250" cy="1104900"/>
            <a:chOff x="0" y="0"/>
            <a:chExt cx="1530272" cy="29100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530272" cy="291002"/>
            </a:xfrm>
            <a:custGeom>
              <a:avLst/>
              <a:gdLst/>
              <a:ahLst/>
              <a:cxnLst/>
              <a:rect l="l" t="t" r="r" b="b"/>
              <a:pathLst>
                <a:path w="1530272" h="291002">
                  <a:moveTo>
                    <a:pt x="0" y="0"/>
                  </a:moveTo>
                  <a:lnTo>
                    <a:pt x="1530272" y="0"/>
                  </a:lnTo>
                  <a:lnTo>
                    <a:pt x="1530272" y="291002"/>
                  </a:lnTo>
                  <a:lnTo>
                    <a:pt x="0" y="291002"/>
                  </a:lnTo>
                  <a:close/>
                </a:path>
              </a:pathLst>
            </a:custGeom>
            <a:solidFill>
              <a:srgbClr val="CEE4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28575"/>
              <a:ext cx="1530272" cy="2624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74"/>
                </a:lnSpc>
              </a:pPr>
              <a:r>
                <a:rPr lang="en-US" sz="2499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ORGANIZACIÓN MEDIANTE SCRUM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028700" y="632480"/>
            <a:ext cx="16230600" cy="84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56"/>
              </a:lnSpc>
            </a:pPr>
            <a:r>
              <a:rPr lang="en-US" sz="5996" i="1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¿CÓMO SE RELACIONA CON NUESTRO PERFIL DE EGRESO?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075445" y="4528677"/>
            <a:ext cx="10150891" cy="1365756"/>
          </a:xfrm>
          <a:custGeom>
            <a:avLst/>
            <a:gdLst/>
            <a:ahLst/>
            <a:cxnLst/>
            <a:rect l="l" t="t" r="r" b="b"/>
            <a:pathLst>
              <a:path w="10150891" h="1365756">
                <a:moveTo>
                  <a:pt x="0" y="0"/>
                </a:moveTo>
                <a:lnTo>
                  <a:pt x="10150890" y="0"/>
                </a:lnTo>
                <a:lnTo>
                  <a:pt x="10150890" y="1365756"/>
                </a:lnTo>
                <a:lnTo>
                  <a:pt x="0" y="1365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1028700" y="963980"/>
            <a:ext cx="14454261" cy="1356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545"/>
              </a:lnSpc>
            </a:pPr>
            <a:r>
              <a:rPr lang="en-US" sz="9500" i="1">
                <a:solidFill>
                  <a:srgbClr val="CEE452"/>
                </a:solidFill>
                <a:latin typeface="Anton Italics"/>
                <a:ea typeface="Anton Italics"/>
                <a:cs typeface="Anton Italics"/>
                <a:sym typeface="Anton Italics"/>
              </a:rPr>
              <a:t>🛠️ TECNOLOGÍAS Y DESARROLLO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33214" y="2786570"/>
            <a:ext cx="4047348" cy="49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📱 Aplicación móvil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644669" y="2786570"/>
            <a:ext cx="4047348" cy="49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🔥 Backend y datos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360574" y="2786570"/>
            <a:ext cx="4047348" cy="49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🎨 Diseño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33214" y="3474275"/>
            <a:ext cx="4390248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Flutter + Dart</a:t>
            </a:r>
          </a:p>
          <a:p>
            <a:pPr algn="l">
              <a:lnSpc>
                <a:spcPts val="2774"/>
              </a:lnSpc>
            </a:pPr>
            <a:endParaRPr lang="en-US" sz="249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Desarrollo de la aplicación y sus funcionalidades.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760976" y="3442792"/>
            <a:ext cx="4771248" cy="2743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Firebase;</a:t>
            </a:r>
          </a:p>
          <a:p>
            <a:pPr marL="539749" lvl="1" indent="-269875" algn="l">
              <a:lnSpc>
                <a:spcPts val="277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Authentication</a:t>
            </a:r>
          </a:p>
          <a:p>
            <a:pPr marL="539749" lvl="1" indent="-269875" algn="l">
              <a:lnSpc>
                <a:spcPts val="277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Cloud Firestore</a:t>
            </a:r>
          </a:p>
          <a:p>
            <a:pPr marL="539749" lvl="1" indent="-269875" algn="l">
              <a:lnSpc>
                <a:spcPts val="2774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Storage</a:t>
            </a:r>
          </a:p>
          <a:p>
            <a:pPr algn="l">
              <a:lnSpc>
                <a:spcPts val="2774"/>
              </a:lnSpc>
            </a:pPr>
            <a:endParaRPr lang="en-US" sz="249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Gestión de usuarios y almacenamiento de información.</a:t>
            </a:r>
          </a:p>
          <a:p>
            <a:pPr algn="l">
              <a:lnSpc>
                <a:spcPts val="2774"/>
              </a:lnSpc>
            </a:pPr>
            <a:endParaRPr lang="en-US" sz="249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360574" y="3496559"/>
            <a:ext cx="4390248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Figma</a:t>
            </a:r>
          </a:p>
          <a:p>
            <a:pPr algn="l">
              <a:lnSpc>
                <a:spcPts val="2774"/>
              </a:lnSpc>
            </a:pPr>
            <a:endParaRPr lang="en-US" sz="249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Diseño UX/UI y prototipo de las interfaces.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933214" y="6423622"/>
            <a:ext cx="4047348" cy="49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💻 Desarrollo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44669" y="6423622"/>
            <a:ext cx="4504548" cy="49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🔄 Control de versiones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360574" y="6423622"/>
            <a:ext cx="4047348" cy="497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85"/>
              </a:lnSpc>
            </a:pPr>
            <a:r>
              <a:rPr lang="en-US" sz="35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🤖 IA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33214" y="7111327"/>
            <a:ext cx="4390248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Visual Studio Code</a:t>
            </a:r>
          </a:p>
          <a:p>
            <a:pPr algn="l">
              <a:lnSpc>
                <a:spcPts val="2774"/>
              </a:lnSpc>
            </a:pPr>
            <a:endParaRPr lang="en-US" sz="249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Entorno principal de programación.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673244" y="7111327"/>
            <a:ext cx="4390248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Git + GitHub</a:t>
            </a:r>
          </a:p>
          <a:p>
            <a:pPr algn="l">
              <a:lnSpc>
                <a:spcPts val="2774"/>
              </a:lnSpc>
            </a:pPr>
            <a:endParaRPr lang="en-US" sz="249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Gestión y respaldo del código.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360574" y="7111327"/>
            <a:ext cx="4390248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Integración opcional</a:t>
            </a:r>
          </a:p>
          <a:p>
            <a:pPr algn="l">
              <a:lnSpc>
                <a:spcPts val="2774"/>
              </a:lnSpc>
            </a:pPr>
            <a:endParaRPr lang="en-US" sz="249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774"/>
              </a:lnSpc>
            </a:pPr>
            <a:r>
              <a:rPr lang="en-US" sz="249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Recomendaciones personalizadas en funcionalidades avanzadas.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00050" y="253700"/>
            <a:ext cx="6954472" cy="243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4"/>
              </a:lnSpc>
              <a:spcBef>
                <a:spcPct val="0"/>
              </a:spcBef>
            </a:pPr>
            <a:r>
              <a:rPr lang="en-US" sz="8003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METODOLOGÍA DE DESARROLLO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95157" y="2857544"/>
            <a:ext cx="5123576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  <a:spcBef>
                <a:spcPct val="0"/>
              </a:spcBef>
            </a:pPr>
            <a:r>
              <a:rPr lang="en-US" sz="2999" b="1">
                <a:solidFill>
                  <a:srgbClr val="CEE452"/>
                </a:solidFill>
                <a:latin typeface="Garet Bold"/>
                <a:ea typeface="Garet Bold"/>
                <a:cs typeface="Garet Bold"/>
                <a:sym typeface="Garet Bold"/>
              </a:rPr>
              <a:t>¿CÓMO TRABAJAREMOS?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36300" y="3752894"/>
            <a:ext cx="7951700" cy="5695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4. Sprint Review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Al finalizar cada Sprint se revisará el resultado obtenido y se verificará si las funcionalidades cumplen con lo esperado.</a:t>
            </a:r>
          </a:p>
          <a:p>
            <a:pPr algn="just">
              <a:lnSpc>
                <a:spcPts val="3000"/>
              </a:lnSpc>
            </a:pPr>
            <a:endParaRPr lang="en-US" sz="20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5. Sprint Retrospective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 analizará el trabajo realizado, identificando:</a:t>
            </a:r>
          </a:p>
          <a:p>
            <a:pPr marL="431801" lvl="1" indent="-215900" algn="just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Qué funcionó correctamente.</a:t>
            </a:r>
          </a:p>
          <a:p>
            <a:pPr marL="431801" lvl="1" indent="-215900" algn="just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Qué problemas aparecieron.</a:t>
            </a:r>
          </a:p>
          <a:p>
            <a:pPr marL="431801" lvl="1" indent="-215900" algn="just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Qué podemos mejorar en el siguiente Sprint.</a:t>
            </a:r>
          </a:p>
          <a:p>
            <a:pPr algn="just">
              <a:lnSpc>
                <a:spcPts val="3000"/>
              </a:lnSpc>
            </a:pPr>
            <a:endParaRPr lang="en-US" sz="20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6. Incremento</a:t>
            </a: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Cada Sprint debe producir un incremento funcional del proyecto, acercándonos progresivamente al prototipo final de FitWise.</a:t>
            </a:r>
          </a:p>
          <a:p>
            <a:pPr marL="0" lvl="0" indent="0" algn="just">
              <a:lnSpc>
                <a:spcPts val="3000"/>
              </a:lnSpc>
              <a:spcBef>
                <a:spcPct val="0"/>
              </a:spcBef>
            </a:pPr>
            <a:endParaRPr lang="en-US" sz="20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5930" y="3642113"/>
            <a:ext cx="9857487" cy="6657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1. Product Backlog</a:t>
            </a:r>
          </a:p>
          <a:p>
            <a:pPr marL="431794" lvl="1" indent="-215897" algn="just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 definirán y priorizarán las funcionalidades que tendrá FitWise:</a:t>
            </a:r>
          </a:p>
          <a:p>
            <a:pPr marL="431794" lvl="1" indent="-215897" algn="just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Registro e inicio de sesión</a:t>
            </a:r>
          </a:p>
          <a:p>
            <a:pPr marL="431794" lvl="1" indent="-215897" algn="just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Rutinas de entrenamiento</a:t>
            </a:r>
          </a:p>
          <a:p>
            <a:pPr marL="431794" lvl="1" indent="-215897" algn="just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Catálogo de ejercicios</a:t>
            </a:r>
          </a:p>
          <a:p>
            <a:pPr marL="431794" lvl="1" indent="-215897" algn="just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Guía de máquinas</a:t>
            </a:r>
          </a:p>
          <a:p>
            <a:pPr marL="431794" lvl="1" indent="-215897" algn="just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Calculadora calórica</a:t>
            </a:r>
          </a:p>
          <a:p>
            <a:pPr marL="431794" lvl="1" indent="-215897" algn="just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Recomendaciones de alimentación</a:t>
            </a:r>
          </a:p>
          <a:p>
            <a:pPr marL="431794" lvl="1" indent="-215897" algn="just">
              <a:lnSpc>
                <a:spcPts val="29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Seguimiento del progreso</a:t>
            </a:r>
          </a:p>
          <a:p>
            <a:pPr algn="just">
              <a:lnSpc>
                <a:spcPts val="2999"/>
              </a:lnSpc>
            </a:pPr>
            <a:endParaRPr lang="en-US" sz="1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2. Sprint Planning</a:t>
            </a:r>
          </a:p>
          <a:p>
            <a:pPr algn="just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Al inicio de cada Sprint se seleccionarán las tareas que serán desarrolladas durante las siguientes 2 semanas.</a:t>
            </a:r>
          </a:p>
          <a:p>
            <a:pPr algn="just">
              <a:lnSpc>
                <a:spcPts val="2999"/>
              </a:lnSpc>
            </a:pPr>
            <a:endParaRPr lang="en-US" sz="1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3. Desarrollo del Sprint</a:t>
            </a:r>
          </a:p>
          <a:p>
            <a:pPr algn="just">
              <a:lnSpc>
                <a:spcPts val="2999"/>
              </a:lnSpc>
            </a:pPr>
            <a:r>
              <a:rPr lang="en-US" sz="19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 diseñarán, programarán e integrarán las funcionalidades seleccionadas, trabajando de manera incremental.</a:t>
            </a:r>
          </a:p>
          <a:p>
            <a:pPr marL="0" lvl="0" indent="0" algn="just">
              <a:lnSpc>
                <a:spcPts val="2999"/>
              </a:lnSpc>
              <a:spcBef>
                <a:spcPct val="0"/>
              </a:spcBef>
            </a:pPr>
            <a:endParaRPr lang="en-US" sz="19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8198441" y="234650"/>
            <a:ext cx="4705233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99"/>
              </a:lnSpc>
              <a:spcBef>
                <a:spcPct val="0"/>
              </a:spcBef>
            </a:pPr>
            <a:r>
              <a:rPr lang="en-US" sz="2999" b="1">
                <a:solidFill>
                  <a:srgbClr val="CEE452"/>
                </a:solidFill>
                <a:latin typeface="Garet Bold"/>
                <a:ea typeface="Garet Bold"/>
                <a:cs typeface="Garet Bold"/>
                <a:sym typeface="Garet Bold"/>
              </a:rPr>
              <a:t>METODOLOGÍA: SCRUM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98441" y="699983"/>
            <a:ext cx="9863187" cy="169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4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Elegimos Scrum porque permite desarrollar FitWise de manera iterativa e incremental, dividiendo el proyecto en períodos cortos de trabajo. Esto permite revisar constantemente los avances, detectar problemas y realizar mejoras durante el desarrollo.</a:t>
            </a:r>
          </a:p>
        </p:txBody>
      </p:sp>
      <p:sp>
        <p:nvSpPr>
          <p:cNvPr id="8" name="Freeform 8"/>
          <p:cNvSpPr/>
          <p:nvPr/>
        </p:nvSpPr>
        <p:spPr>
          <a:xfrm>
            <a:off x="400050" y="2692100"/>
            <a:ext cx="1540875" cy="816664"/>
          </a:xfrm>
          <a:custGeom>
            <a:avLst/>
            <a:gdLst/>
            <a:ahLst/>
            <a:cxnLst/>
            <a:rect l="l" t="t" r="r" b="b"/>
            <a:pathLst>
              <a:path w="1540875" h="816664">
                <a:moveTo>
                  <a:pt x="0" y="0"/>
                </a:moveTo>
                <a:lnTo>
                  <a:pt x="1540875" y="0"/>
                </a:lnTo>
                <a:lnTo>
                  <a:pt x="1540875" y="816663"/>
                </a:lnTo>
                <a:lnTo>
                  <a:pt x="0" y="8166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8300" y="1700033"/>
            <a:ext cx="15011399" cy="8390252"/>
          </a:xfrm>
          <a:custGeom>
            <a:avLst/>
            <a:gdLst/>
            <a:ahLst/>
            <a:cxnLst/>
            <a:rect l="l" t="t" r="r" b="b"/>
            <a:pathLst>
              <a:path w="7990265" h="7624013">
                <a:moveTo>
                  <a:pt x="0" y="0"/>
                </a:moveTo>
                <a:lnTo>
                  <a:pt x="7990266" y="0"/>
                </a:lnTo>
                <a:lnTo>
                  <a:pt x="7990266" y="7624014"/>
                </a:lnTo>
                <a:lnTo>
                  <a:pt x="0" y="7624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TextBox 3"/>
          <p:cNvSpPr txBox="1"/>
          <p:nvPr/>
        </p:nvSpPr>
        <p:spPr>
          <a:xfrm>
            <a:off x="4739519" y="420048"/>
            <a:ext cx="8808962" cy="1293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0"/>
              </a:lnSpc>
            </a:pPr>
            <a:r>
              <a:rPr lang="en-US" sz="90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ARQUITECTURA 🏗️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s-CL"/>
          </a:p>
        </p:txBody>
      </p:sp>
      <p:grpSp>
        <p:nvGrpSpPr>
          <p:cNvPr id="3" name="Group 3"/>
          <p:cNvGrpSpPr/>
          <p:nvPr/>
        </p:nvGrpSpPr>
        <p:grpSpPr>
          <a:xfrm>
            <a:off x="-549596" y="-304547"/>
            <a:ext cx="19200851" cy="10896094"/>
            <a:chOff x="0" y="0"/>
            <a:chExt cx="5057014" cy="28697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057014" cy="2869753"/>
            </a:xfrm>
            <a:custGeom>
              <a:avLst/>
              <a:gdLst/>
              <a:ahLst/>
              <a:cxnLst/>
              <a:rect l="l" t="t" r="r" b="b"/>
              <a:pathLst>
                <a:path w="5057014" h="2869753">
                  <a:moveTo>
                    <a:pt x="0" y="0"/>
                  </a:moveTo>
                  <a:lnTo>
                    <a:pt x="5057014" y="0"/>
                  </a:lnTo>
                  <a:lnTo>
                    <a:pt x="5057014" y="2869753"/>
                  </a:lnTo>
                  <a:lnTo>
                    <a:pt x="0" y="2869753"/>
                  </a:lnTo>
                  <a:close/>
                </a:path>
              </a:pathLst>
            </a:custGeom>
            <a:solidFill>
              <a:srgbClr val="5237BF">
                <a:alpha val="85882"/>
              </a:srgbClr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5057014" cy="28888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22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693453" y="8945663"/>
            <a:ext cx="4647303" cy="625273"/>
          </a:xfrm>
          <a:custGeom>
            <a:avLst/>
            <a:gdLst/>
            <a:ahLst/>
            <a:cxnLst/>
            <a:rect l="l" t="t" r="r" b="b"/>
            <a:pathLst>
              <a:path w="4647303" h="625273">
                <a:moveTo>
                  <a:pt x="0" y="0"/>
                </a:moveTo>
                <a:lnTo>
                  <a:pt x="4647303" y="0"/>
                </a:lnTo>
                <a:lnTo>
                  <a:pt x="4647303" y="625274"/>
                </a:lnTo>
                <a:lnTo>
                  <a:pt x="0" y="6252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7" name="Freeform 7"/>
          <p:cNvSpPr/>
          <p:nvPr/>
        </p:nvSpPr>
        <p:spPr>
          <a:xfrm>
            <a:off x="15334150" y="8945663"/>
            <a:ext cx="4647303" cy="625273"/>
          </a:xfrm>
          <a:custGeom>
            <a:avLst/>
            <a:gdLst/>
            <a:ahLst/>
            <a:cxnLst/>
            <a:rect l="l" t="t" r="r" b="b"/>
            <a:pathLst>
              <a:path w="4647303" h="625273">
                <a:moveTo>
                  <a:pt x="0" y="0"/>
                </a:moveTo>
                <a:lnTo>
                  <a:pt x="4647303" y="0"/>
                </a:lnTo>
                <a:lnTo>
                  <a:pt x="4647303" y="625274"/>
                </a:lnTo>
                <a:lnTo>
                  <a:pt x="0" y="6252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8" name="Freeform 8"/>
          <p:cNvSpPr/>
          <p:nvPr/>
        </p:nvSpPr>
        <p:spPr>
          <a:xfrm>
            <a:off x="8073070" y="1364233"/>
            <a:ext cx="1955519" cy="1759967"/>
          </a:xfrm>
          <a:custGeom>
            <a:avLst/>
            <a:gdLst/>
            <a:ahLst/>
            <a:cxnLst/>
            <a:rect l="l" t="t" r="r" b="b"/>
            <a:pathLst>
              <a:path w="1955519" h="1759967">
                <a:moveTo>
                  <a:pt x="0" y="0"/>
                </a:moveTo>
                <a:lnTo>
                  <a:pt x="1955520" y="0"/>
                </a:lnTo>
                <a:lnTo>
                  <a:pt x="1955520" y="1759967"/>
                </a:lnTo>
                <a:lnTo>
                  <a:pt x="0" y="175996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9" name="TextBox 9"/>
          <p:cNvSpPr txBox="1"/>
          <p:nvPr/>
        </p:nvSpPr>
        <p:spPr>
          <a:xfrm>
            <a:off x="4413179" y="3708315"/>
            <a:ext cx="9461642" cy="2700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631"/>
              </a:lnSpc>
              <a:spcBef>
                <a:spcPct val="0"/>
              </a:spcBef>
            </a:pPr>
            <a:r>
              <a:rPr lang="en-US" sz="88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Riesgos del proyecto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45160" y="1028700"/>
            <a:ext cx="1322375" cy="1550760"/>
          </a:xfrm>
          <a:custGeom>
            <a:avLst/>
            <a:gdLst/>
            <a:ahLst/>
            <a:cxnLst/>
            <a:rect l="l" t="t" r="r" b="b"/>
            <a:pathLst>
              <a:path w="1322375" h="1550760">
                <a:moveTo>
                  <a:pt x="0" y="0"/>
                </a:moveTo>
                <a:lnTo>
                  <a:pt x="1322375" y="0"/>
                </a:lnTo>
                <a:lnTo>
                  <a:pt x="1322375" y="1550760"/>
                </a:lnTo>
                <a:lnTo>
                  <a:pt x="0" y="1550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5256371" y="8439691"/>
            <a:ext cx="1874008" cy="993224"/>
          </a:xfrm>
          <a:custGeom>
            <a:avLst/>
            <a:gdLst/>
            <a:ahLst/>
            <a:cxnLst/>
            <a:rect l="l" t="t" r="r" b="b"/>
            <a:pathLst>
              <a:path w="1874008" h="993224">
                <a:moveTo>
                  <a:pt x="0" y="0"/>
                </a:moveTo>
                <a:lnTo>
                  <a:pt x="1874008" y="0"/>
                </a:lnTo>
                <a:lnTo>
                  <a:pt x="1874008" y="993224"/>
                </a:lnTo>
                <a:lnTo>
                  <a:pt x="0" y="993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3781677" y="1104900"/>
            <a:ext cx="9853278" cy="144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00"/>
              </a:lnSpc>
            </a:pPr>
            <a:r>
              <a:rPr lang="en-US" sz="100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RIESGOS INTERNOS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69649" y="3041472"/>
            <a:ext cx="13348702" cy="4964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1. TIEMPO LIMITADO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SOLO CONTAMOS CON UNA SESIÓN SEMANAL DE LA ASIGNATURA.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MITIGACIÓN: PLANIFICAR MEDIANTE SCRUM Y PRIORIZAR FUNCIONALIDADES ESENCIALES.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endParaRPr lang="en-US" sz="255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2. COMPLEJIDAD DEL DESARROLLO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ALGUNAS FUNCIONALIDADES PUEDEN REQUERIR MÁS TIEMPO DEL ESPERADO.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MITIGACIÓN: DESARROLLAR PRIMERO UN MVP Y DEJAR FUNCIONES AVANZADAS PARA FUTURAS VERSIONES.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endParaRPr lang="en-US" sz="255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3. DISTRIBUCIÓN DEL TRABAJO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AL SER UN EQUIPO DE DOS PERSONAS, ALGUNAS TAREAS PUEDEN CONCENTRARSE EN UN INTEGRANTE.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MITIGACIÓN: DEFINIR RESPONSABILIDADES Y REALIZAR SEGUIMIENTO MEDIANTE LOS SPRINT.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endParaRPr lang="en-US" sz="255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4. ERRORES DURANTE EL DESARROLLO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MITIGACIÓN: REALIZAR PRUEBAS PROGRESIVAS Y CORRECCIONES DURANTE CADA SPRINT.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45160" y="1028700"/>
            <a:ext cx="1322375" cy="1550760"/>
          </a:xfrm>
          <a:custGeom>
            <a:avLst/>
            <a:gdLst/>
            <a:ahLst/>
            <a:cxnLst/>
            <a:rect l="l" t="t" r="r" b="b"/>
            <a:pathLst>
              <a:path w="1322375" h="1550760">
                <a:moveTo>
                  <a:pt x="0" y="0"/>
                </a:moveTo>
                <a:lnTo>
                  <a:pt x="1322375" y="0"/>
                </a:lnTo>
                <a:lnTo>
                  <a:pt x="1322375" y="1550760"/>
                </a:lnTo>
                <a:lnTo>
                  <a:pt x="0" y="1550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15256371" y="8439691"/>
            <a:ext cx="1874008" cy="993224"/>
          </a:xfrm>
          <a:custGeom>
            <a:avLst/>
            <a:gdLst/>
            <a:ahLst/>
            <a:cxnLst/>
            <a:rect l="l" t="t" r="r" b="b"/>
            <a:pathLst>
              <a:path w="1874008" h="993224">
                <a:moveTo>
                  <a:pt x="0" y="0"/>
                </a:moveTo>
                <a:lnTo>
                  <a:pt x="1874008" y="0"/>
                </a:lnTo>
                <a:lnTo>
                  <a:pt x="1874008" y="993224"/>
                </a:lnTo>
                <a:lnTo>
                  <a:pt x="0" y="993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3781677" y="1104900"/>
            <a:ext cx="9853278" cy="144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00"/>
              </a:lnSpc>
            </a:pPr>
            <a:r>
              <a:rPr lang="en-US" sz="100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RIESGOS EXTERNOS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469649" y="3218761"/>
            <a:ext cx="13348702" cy="4610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1. FALLAS DE SERVICIOS EXTERNOS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PROBLEMAS CON SERVICIOS EN LA NUBE O HERRAMIENTAS UTILIZADAS.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MITIGACIÓN: UTILIZAR HERRAMIENTAS CON ALTERNATIVAS Y MANTENER RESPALDOS.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endParaRPr lang="en-US" sz="255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2. DISPONIBILIDAD DE RECURSOS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DIFICULTAD PARA CONSEGUIR MATERIAL VISUAL O INFORMACIÓN DE EJERCICIOS/MÁQUINAS.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MITIGACIÓN: UTILIZAR FUENTES CONFIABLES Y RECURSOS DISPONIBLES PARA EL PROTOTIPO.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endParaRPr lang="en-US" sz="255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3. PROBLEMAS TECNOLÓGICOS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COMPATIBILIDAD, INTEGRACIÓN DE BASE DE DATOS O HERRAMIENTAS DE IA.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r>
              <a:rPr lang="en-US" sz="2559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MITIGACIÓN: UTILIZAR TECNOLOGÍAS CON DOCUMENTACIÓN DISPONIBLE Y PROBAR LAS INTEGRACIONES PROGRESIVAMENTE.</a:t>
            </a:r>
          </a:p>
          <a:p>
            <a:pPr algn="l">
              <a:lnSpc>
                <a:spcPts val="2840"/>
              </a:lnSpc>
              <a:spcBef>
                <a:spcPct val="0"/>
              </a:spcBef>
            </a:pPr>
            <a:endParaRPr lang="en-US" sz="2559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451480"/>
            <a:ext cx="6174436" cy="1221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35"/>
              </a:lnSpc>
            </a:pPr>
            <a:r>
              <a:rPr lang="en-US" sz="85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SEGURIDAD 🔐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5075445" y="4460622"/>
            <a:ext cx="10150891" cy="1365756"/>
          </a:xfrm>
          <a:custGeom>
            <a:avLst/>
            <a:gdLst/>
            <a:ahLst/>
            <a:cxnLst/>
            <a:rect l="l" t="t" r="r" b="b"/>
            <a:pathLst>
              <a:path w="10150891" h="1365756">
                <a:moveTo>
                  <a:pt x="0" y="0"/>
                </a:moveTo>
                <a:lnTo>
                  <a:pt x="10150890" y="0"/>
                </a:lnTo>
                <a:lnTo>
                  <a:pt x="10150890" y="1365756"/>
                </a:lnTo>
                <a:lnTo>
                  <a:pt x="0" y="1365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Freeform 4"/>
          <p:cNvSpPr/>
          <p:nvPr/>
        </p:nvSpPr>
        <p:spPr>
          <a:xfrm rot="-5400000">
            <a:off x="13211222" y="4460622"/>
            <a:ext cx="10150891" cy="1365756"/>
          </a:xfrm>
          <a:custGeom>
            <a:avLst/>
            <a:gdLst/>
            <a:ahLst/>
            <a:cxnLst/>
            <a:rect l="l" t="t" r="r" b="b"/>
            <a:pathLst>
              <a:path w="10150891" h="1365756">
                <a:moveTo>
                  <a:pt x="0" y="0"/>
                </a:moveTo>
                <a:lnTo>
                  <a:pt x="10150890" y="0"/>
                </a:lnTo>
                <a:lnTo>
                  <a:pt x="10150890" y="1365756"/>
                </a:lnTo>
                <a:lnTo>
                  <a:pt x="0" y="13657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5" name="TextBox 5"/>
          <p:cNvSpPr txBox="1"/>
          <p:nvPr/>
        </p:nvSpPr>
        <p:spPr>
          <a:xfrm>
            <a:off x="1028700" y="1802230"/>
            <a:ext cx="162306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5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La seguridad será considerada desde el diseño de la aplicación, protegiendo las cuentas y la información almacenada de los usuarios.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631437"/>
            <a:ext cx="16426414" cy="604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Protección de cuentas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Firebase Authentication para gestionar el registro e inicio de sesión.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Las contraseñas no serán almacenadas directamente por FitWise.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Protección de datos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Cloud Firestore almacenará los datos de los usuarios.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 utilizarán reglas de seguridad para controlar el acceso.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Control de acceso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Cada usuario podrá acceder únicamente a la información correspondiente a su cuenta.</a:t>
            </a:r>
          </a:p>
          <a:p>
            <a:pPr algn="l">
              <a:lnSpc>
                <a:spcPts val="3749"/>
              </a:lnSpc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Buenas prácticas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No almacenar credenciales directamente en la aplicación.</a:t>
            </a:r>
          </a:p>
          <a:p>
            <a:pPr marL="539749" lvl="1" indent="-269875" algn="l">
              <a:lnSpc>
                <a:spcPts val="374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Mantener el código fuente mediante Git/GitHub.</a:t>
            </a:r>
          </a:p>
          <a:p>
            <a:pPr marL="539749" lvl="1" indent="-269875" algn="l">
              <a:lnSpc>
                <a:spcPts val="374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Realizar pruebas de seguridad antes de la entrega.</a:t>
            </a:r>
          </a:p>
          <a:p>
            <a:pPr marL="0" lvl="0" indent="0" algn="l">
              <a:lnSpc>
                <a:spcPts val="3749"/>
              </a:lnSpc>
              <a:spcBef>
                <a:spcPct val="0"/>
              </a:spcBef>
            </a:pPr>
            <a:endParaRPr lang="en-US" sz="24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8515969" y="2825649"/>
            <a:ext cx="1540875" cy="816664"/>
          </a:xfrm>
          <a:custGeom>
            <a:avLst/>
            <a:gdLst/>
            <a:ahLst/>
            <a:cxnLst/>
            <a:rect l="l" t="t" r="r" b="b"/>
            <a:pathLst>
              <a:path w="1540875" h="816664">
                <a:moveTo>
                  <a:pt x="0" y="0"/>
                </a:moveTo>
                <a:lnTo>
                  <a:pt x="1540875" y="0"/>
                </a:lnTo>
                <a:lnTo>
                  <a:pt x="1540875" y="816664"/>
                </a:lnTo>
                <a:lnTo>
                  <a:pt x="0" y="8166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3" name="Freeform 3"/>
          <p:cNvSpPr/>
          <p:nvPr/>
        </p:nvSpPr>
        <p:spPr>
          <a:xfrm>
            <a:off x="400050" y="601480"/>
            <a:ext cx="1322375" cy="1550760"/>
          </a:xfrm>
          <a:custGeom>
            <a:avLst/>
            <a:gdLst/>
            <a:ahLst/>
            <a:cxnLst/>
            <a:rect l="l" t="t" r="r" b="b"/>
            <a:pathLst>
              <a:path w="1322375" h="1550760">
                <a:moveTo>
                  <a:pt x="0" y="0"/>
                </a:moveTo>
                <a:lnTo>
                  <a:pt x="1322375" y="0"/>
                </a:lnTo>
                <a:lnTo>
                  <a:pt x="1322375" y="1550760"/>
                </a:lnTo>
                <a:lnTo>
                  <a:pt x="0" y="15507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2136567" y="677680"/>
            <a:ext cx="11419753" cy="1447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00"/>
              </a:lnSpc>
            </a:pPr>
            <a:r>
              <a:rPr lang="en-US" sz="100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MODELO DE NEGOCIO 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1238" y="4266277"/>
            <a:ext cx="5083955" cy="5208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Modelo Freemium</a:t>
            </a:r>
          </a:p>
          <a:p>
            <a:pPr algn="just">
              <a:lnSpc>
                <a:spcPts val="4199"/>
              </a:lnSpc>
            </a:pPr>
            <a:endParaRPr lang="en-US" sz="27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just">
              <a:lnSpc>
                <a:spcPts val="4199"/>
              </a:lnSpc>
            </a:pP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🆓 Versión gratuita</a:t>
            </a: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Rutinas básicas.</a:t>
            </a:r>
          </a:p>
          <a:p>
            <a:pPr algn="just">
              <a:lnSpc>
                <a:spcPts val="4199"/>
              </a:lnSpc>
            </a:pPr>
            <a:endParaRPr lang="en-US" sz="27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Catálogo de ejercicios.</a:t>
            </a:r>
          </a:p>
          <a:p>
            <a:pPr algn="just">
              <a:lnSpc>
                <a:spcPts val="4199"/>
              </a:lnSpc>
            </a:pPr>
            <a:endParaRPr lang="en-US" sz="27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just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Guía de máquinas.</a:t>
            </a:r>
          </a:p>
          <a:p>
            <a:pPr algn="just">
              <a:lnSpc>
                <a:spcPts val="4199"/>
              </a:lnSpc>
            </a:pPr>
            <a:endParaRPr lang="en-US" sz="2799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just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Calculadora calórica.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888538" y="4266277"/>
            <a:ext cx="4795737" cy="5631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</a:pPr>
            <a:r>
              <a:rPr lang="en-US" sz="2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⭐ Versión Premium</a:t>
            </a:r>
          </a:p>
          <a:p>
            <a:pPr algn="just">
              <a:lnSpc>
                <a:spcPts val="4050"/>
              </a:lnSpc>
            </a:pPr>
            <a:endParaRPr lang="en-US" sz="27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30" lvl="1" indent="-291465" algn="just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Rutinas personalizadas.</a:t>
            </a:r>
          </a:p>
          <a:p>
            <a:pPr algn="just">
              <a:lnSpc>
                <a:spcPts val="4050"/>
              </a:lnSpc>
            </a:pPr>
            <a:endParaRPr lang="en-US" sz="27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30" lvl="1" indent="-291465" algn="just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Seguimiento avanzado.</a:t>
            </a:r>
          </a:p>
          <a:p>
            <a:pPr algn="just">
              <a:lnSpc>
                <a:spcPts val="4050"/>
              </a:lnSpc>
            </a:pPr>
            <a:endParaRPr lang="en-US" sz="27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30" lvl="1" indent="-291465" algn="just">
              <a:lnSpc>
                <a:spcPts val="4050"/>
              </a:lnSpc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Recomendaciones personalizadas.</a:t>
            </a:r>
          </a:p>
          <a:p>
            <a:pPr marL="582930" lvl="1" indent="-291465" algn="just">
              <a:lnSpc>
                <a:spcPts val="4050"/>
              </a:lnSpc>
              <a:buFont typeface="Arial"/>
              <a:buChar char="•"/>
            </a:pPr>
            <a:endParaRPr lang="en-US" sz="27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marL="582930" lvl="1" indent="-291465" algn="just">
              <a:lnSpc>
                <a:spcPts val="405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Funcionalidades adicionales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27225" y="4256752"/>
            <a:ext cx="5317895" cy="4425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Fuentes de ingresos</a:t>
            </a:r>
          </a:p>
          <a:p>
            <a:pPr algn="l">
              <a:lnSpc>
                <a:spcPts val="3900"/>
              </a:lnSpc>
            </a:pPr>
            <a:endParaRPr lang="en-US" sz="26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750"/>
              </a:lnSpc>
            </a:pPr>
            <a:r>
              <a:rPr lang="en-US" sz="2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💳 Suscripción mensual/anual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🤝 Alianzas con gimnasios</a:t>
            </a:r>
          </a:p>
          <a:p>
            <a:pPr algn="l">
              <a:lnSpc>
                <a:spcPts val="3900"/>
              </a:lnSpc>
            </a:pPr>
            <a:endParaRPr lang="en-US" sz="26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900"/>
              </a:lnSpc>
            </a:pPr>
            <a:r>
              <a:rPr lang="en-US" sz="26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📈 Servicios o funcionalidades Premium</a:t>
            </a:r>
          </a:p>
          <a:p>
            <a:pPr algn="l">
              <a:lnSpc>
                <a:spcPts val="3900"/>
              </a:lnSpc>
              <a:spcBef>
                <a:spcPct val="0"/>
              </a:spcBef>
            </a:pPr>
            <a:endParaRPr lang="en-US" sz="2600">
              <a:solidFill>
                <a:srgbClr val="FFFFFF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200619" y="6311898"/>
            <a:ext cx="13781161" cy="0"/>
          </a:xfrm>
          <a:prstGeom prst="line">
            <a:avLst/>
          </a:prstGeom>
          <a:ln w="57150" cap="rnd">
            <a:solidFill>
              <a:srgbClr val="CEE4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3" name="AutoShape 3"/>
          <p:cNvSpPr/>
          <p:nvPr/>
        </p:nvSpPr>
        <p:spPr>
          <a:xfrm rot="5400000">
            <a:off x="1939025" y="6972364"/>
            <a:ext cx="1262794" cy="0"/>
          </a:xfrm>
          <a:prstGeom prst="line">
            <a:avLst/>
          </a:prstGeom>
          <a:ln w="38100" cap="rnd">
            <a:solidFill>
              <a:srgbClr val="CEE4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AutoShape 4"/>
          <p:cNvSpPr/>
          <p:nvPr/>
        </p:nvSpPr>
        <p:spPr>
          <a:xfrm>
            <a:off x="9118429" y="4858748"/>
            <a:ext cx="0" cy="1262794"/>
          </a:xfrm>
          <a:prstGeom prst="line">
            <a:avLst/>
          </a:prstGeom>
          <a:ln w="38100" cap="rnd">
            <a:solidFill>
              <a:srgbClr val="CEE4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5" name="AutoShape 5"/>
          <p:cNvSpPr/>
          <p:nvPr/>
        </p:nvSpPr>
        <p:spPr>
          <a:xfrm rot="5400000">
            <a:off x="14673775" y="6972364"/>
            <a:ext cx="1262794" cy="0"/>
          </a:xfrm>
          <a:prstGeom prst="line">
            <a:avLst/>
          </a:prstGeom>
          <a:ln w="38100" cap="rnd">
            <a:solidFill>
              <a:srgbClr val="CEE45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grpSp>
        <p:nvGrpSpPr>
          <p:cNvPr id="6" name="Group 6"/>
          <p:cNvGrpSpPr/>
          <p:nvPr/>
        </p:nvGrpSpPr>
        <p:grpSpPr>
          <a:xfrm>
            <a:off x="1893814" y="5664009"/>
            <a:ext cx="1353217" cy="1353217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EE45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460870" y="5664009"/>
            <a:ext cx="1353217" cy="1353217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EE452"/>
            </a:solid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28564" y="5664009"/>
            <a:ext cx="1353217" cy="1353217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CEE452"/>
            </a:solidFill>
          </p:spPr>
          <p:txBody>
            <a:bodyPr/>
            <a:lstStyle/>
            <a:p>
              <a:endParaRPr lang="es-CL"/>
            </a:p>
          </p:txBody>
        </p:sp>
      </p:grpSp>
      <p:sp>
        <p:nvSpPr>
          <p:cNvPr id="12" name="Freeform 12"/>
          <p:cNvSpPr/>
          <p:nvPr/>
        </p:nvSpPr>
        <p:spPr>
          <a:xfrm>
            <a:off x="2312808" y="6009220"/>
            <a:ext cx="515228" cy="701786"/>
          </a:xfrm>
          <a:custGeom>
            <a:avLst/>
            <a:gdLst/>
            <a:ahLst/>
            <a:cxnLst/>
            <a:rect l="l" t="t" r="r" b="b"/>
            <a:pathLst>
              <a:path w="515228" h="701786">
                <a:moveTo>
                  <a:pt x="0" y="0"/>
                </a:moveTo>
                <a:lnTo>
                  <a:pt x="515228" y="0"/>
                </a:lnTo>
                <a:lnTo>
                  <a:pt x="515228" y="701786"/>
                </a:lnTo>
                <a:lnTo>
                  <a:pt x="0" y="70178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3" name="Freeform 13"/>
          <p:cNvSpPr/>
          <p:nvPr/>
        </p:nvSpPr>
        <p:spPr>
          <a:xfrm>
            <a:off x="8774855" y="6056743"/>
            <a:ext cx="738290" cy="606741"/>
          </a:xfrm>
          <a:custGeom>
            <a:avLst/>
            <a:gdLst/>
            <a:ahLst/>
            <a:cxnLst/>
            <a:rect l="l" t="t" r="r" b="b"/>
            <a:pathLst>
              <a:path w="738290" h="606741">
                <a:moveTo>
                  <a:pt x="0" y="0"/>
                </a:moveTo>
                <a:lnTo>
                  <a:pt x="738290" y="0"/>
                </a:lnTo>
                <a:lnTo>
                  <a:pt x="738290" y="606740"/>
                </a:lnTo>
                <a:lnTo>
                  <a:pt x="0" y="6067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4" name="Freeform 14"/>
          <p:cNvSpPr/>
          <p:nvPr/>
        </p:nvSpPr>
        <p:spPr>
          <a:xfrm>
            <a:off x="3015979" y="816442"/>
            <a:ext cx="2326277" cy="1264913"/>
          </a:xfrm>
          <a:custGeom>
            <a:avLst/>
            <a:gdLst/>
            <a:ahLst/>
            <a:cxnLst/>
            <a:rect l="l" t="t" r="r" b="b"/>
            <a:pathLst>
              <a:path w="2326277" h="1264913">
                <a:moveTo>
                  <a:pt x="0" y="0"/>
                </a:moveTo>
                <a:lnTo>
                  <a:pt x="2326277" y="0"/>
                </a:lnTo>
                <a:lnTo>
                  <a:pt x="2326277" y="1264913"/>
                </a:lnTo>
                <a:lnTo>
                  <a:pt x="0" y="1264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5" name="Freeform 15"/>
          <p:cNvSpPr/>
          <p:nvPr/>
        </p:nvSpPr>
        <p:spPr>
          <a:xfrm rot="-10800000">
            <a:off x="12945744" y="816442"/>
            <a:ext cx="2326277" cy="1264913"/>
          </a:xfrm>
          <a:custGeom>
            <a:avLst/>
            <a:gdLst/>
            <a:ahLst/>
            <a:cxnLst/>
            <a:rect l="l" t="t" r="r" b="b"/>
            <a:pathLst>
              <a:path w="2326277" h="1264913">
                <a:moveTo>
                  <a:pt x="0" y="0"/>
                </a:moveTo>
                <a:lnTo>
                  <a:pt x="2326277" y="0"/>
                </a:lnTo>
                <a:lnTo>
                  <a:pt x="2326277" y="1264913"/>
                </a:lnTo>
                <a:lnTo>
                  <a:pt x="0" y="12649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6" name="Freeform 16"/>
          <p:cNvSpPr/>
          <p:nvPr/>
        </p:nvSpPr>
        <p:spPr>
          <a:xfrm>
            <a:off x="14948062" y="5953323"/>
            <a:ext cx="757683" cy="757683"/>
          </a:xfrm>
          <a:custGeom>
            <a:avLst/>
            <a:gdLst/>
            <a:ahLst/>
            <a:cxnLst/>
            <a:rect l="l" t="t" r="r" b="b"/>
            <a:pathLst>
              <a:path w="757683" h="757683">
                <a:moveTo>
                  <a:pt x="0" y="0"/>
                </a:moveTo>
                <a:lnTo>
                  <a:pt x="757683" y="0"/>
                </a:lnTo>
                <a:lnTo>
                  <a:pt x="757683" y="757683"/>
                </a:lnTo>
                <a:lnTo>
                  <a:pt x="0" y="7576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17" name="TextBox 17"/>
          <p:cNvSpPr txBox="1"/>
          <p:nvPr/>
        </p:nvSpPr>
        <p:spPr>
          <a:xfrm>
            <a:off x="4966355" y="880975"/>
            <a:ext cx="8329195" cy="113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43"/>
              </a:lnSpc>
              <a:spcBef>
                <a:spcPct val="0"/>
              </a:spcBef>
            </a:pPr>
            <a:r>
              <a:rPr lang="en-US" sz="7453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PLAN DE TRABAJO 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9465" y="7784179"/>
            <a:ext cx="3381914" cy="48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30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Fase 1 (S1–S4)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23958" y="3363474"/>
            <a:ext cx="3381914" cy="48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30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Fase 2 (S5–S15)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614215" y="7784179"/>
            <a:ext cx="3381914" cy="488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3015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Fase 3 (S16–S18)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79937" y="8421393"/>
            <a:ext cx="3099181" cy="64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6"/>
              </a:lnSpc>
              <a:spcBef>
                <a:spcPct val="0"/>
              </a:spcBef>
            </a:pPr>
            <a:r>
              <a:rPr lang="en-US" sz="186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Planificación, requerimientos y diseño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755582" y="8421393"/>
            <a:ext cx="3099181" cy="64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6"/>
              </a:lnSpc>
              <a:spcBef>
                <a:spcPct val="0"/>
              </a:spcBef>
            </a:pPr>
            <a:r>
              <a:rPr lang="en-US" sz="186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Pruebas, correcciones y presentación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82128" y="4013434"/>
            <a:ext cx="3323743" cy="641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06"/>
              </a:lnSpc>
              <a:spcBef>
                <a:spcPct val="0"/>
              </a:spcBef>
            </a:pPr>
            <a:r>
              <a:rPr lang="en-US" sz="1861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Desarrollo, base de datos, calculadora y rutinas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79402" y="495300"/>
            <a:ext cx="8329195" cy="113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43"/>
              </a:lnSpc>
              <a:spcBef>
                <a:spcPct val="0"/>
              </a:spcBef>
            </a:pPr>
            <a:r>
              <a:rPr lang="en-US" sz="7453" dirty="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MOCKUP 📱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0AE67D5-827D-5A49-D1E3-FD156FFA2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407"/>
          <a:stretch>
            <a:fillRect/>
          </a:stretch>
        </p:blipFill>
        <p:spPr>
          <a:xfrm>
            <a:off x="5810250" y="2016821"/>
            <a:ext cx="6667500" cy="807275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2A3EA3-976E-91BE-3265-662D8D23713F}"/>
              </a:ext>
            </a:extLst>
          </p:cNvPr>
          <p:cNvSpPr txBox="1"/>
          <p:nvPr/>
        </p:nvSpPr>
        <p:spPr>
          <a:xfrm>
            <a:off x="4979402" y="495300"/>
            <a:ext cx="8329195" cy="113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43"/>
              </a:lnSpc>
              <a:spcBef>
                <a:spcPct val="0"/>
              </a:spcBef>
            </a:pPr>
            <a:r>
              <a:rPr lang="en-US" sz="7453" dirty="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MOCKUP 📱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063ED80-6101-4FD8-7D7D-99C52C354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5" r="15926" b="3334"/>
          <a:stretch>
            <a:fillRect/>
          </a:stretch>
        </p:blipFill>
        <p:spPr>
          <a:xfrm>
            <a:off x="5848276" y="1752600"/>
            <a:ext cx="6591446" cy="8039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EEBE7B6-0C11-0CE1-960A-D2DFACCF9599}"/>
              </a:ext>
            </a:extLst>
          </p:cNvPr>
          <p:cNvSpPr txBox="1"/>
          <p:nvPr/>
        </p:nvSpPr>
        <p:spPr>
          <a:xfrm>
            <a:off x="4979402" y="495300"/>
            <a:ext cx="8329195" cy="113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43"/>
              </a:lnSpc>
              <a:spcBef>
                <a:spcPct val="0"/>
              </a:spcBef>
            </a:pPr>
            <a:r>
              <a:rPr lang="en-US" sz="7453" dirty="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MOCKUP 📱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C306D78-5677-9782-E42B-EC2E984796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r="2593"/>
          <a:stretch>
            <a:fillRect/>
          </a:stretch>
        </p:blipFill>
        <p:spPr>
          <a:xfrm>
            <a:off x="5676899" y="1866900"/>
            <a:ext cx="6934200" cy="76107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C374C3B-17F4-97E0-A744-9DD1C7C77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78" t="2593" r="13704"/>
          <a:stretch>
            <a:fillRect/>
          </a:stretch>
        </p:blipFill>
        <p:spPr>
          <a:xfrm>
            <a:off x="6072821" y="1790700"/>
            <a:ext cx="6142357" cy="7620000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128C12C0-EFF1-AA3C-8B44-588A967E6182}"/>
              </a:ext>
            </a:extLst>
          </p:cNvPr>
          <p:cNvSpPr txBox="1"/>
          <p:nvPr/>
        </p:nvSpPr>
        <p:spPr>
          <a:xfrm>
            <a:off x="4979402" y="495300"/>
            <a:ext cx="8329195" cy="113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43"/>
              </a:lnSpc>
              <a:spcBef>
                <a:spcPct val="0"/>
              </a:spcBef>
            </a:pPr>
            <a:r>
              <a:rPr lang="en-US" sz="7453" dirty="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MOCKUP 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A7CE61-64D1-E357-95BE-398889D32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96" r="2593"/>
          <a:stretch>
            <a:fillRect/>
          </a:stretch>
        </p:blipFill>
        <p:spPr>
          <a:xfrm>
            <a:off x="5524500" y="1638300"/>
            <a:ext cx="7239000" cy="7945244"/>
          </a:xfrm>
          <a:prstGeom prst="rect">
            <a:avLst/>
          </a:prstGeom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FEACCE41-B48A-3A2D-2B53-D4B637F5C6C2}"/>
              </a:ext>
            </a:extLst>
          </p:cNvPr>
          <p:cNvSpPr txBox="1"/>
          <p:nvPr/>
        </p:nvSpPr>
        <p:spPr>
          <a:xfrm>
            <a:off x="4979402" y="495300"/>
            <a:ext cx="8329195" cy="113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43"/>
              </a:lnSpc>
              <a:spcBef>
                <a:spcPct val="0"/>
              </a:spcBef>
            </a:pPr>
            <a:r>
              <a:rPr lang="en-US" sz="7453" dirty="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MOCKUP 📱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586538" y="420052"/>
            <a:ext cx="5114925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0"/>
              </a:lnSpc>
              <a:spcBef>
                <a:spcPct val="0"/>
              </a:spcBef>
            </a:pPr>
            <a:r>
              <a:rPr lang="en-US" sz="90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CONCLUSIÓN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7899294"/>
            <a:ext cx="9173404" cy="1651213"/>
          </a:xfrm>
          <a:custGeom>
            <a:avLst/>
            <a:gdLst/>
            <a:ahLst/>
            <a:cxnLst/>
            <a:rect l="l" t="t" r="r" b="b"/>
            <a:pathLst>
              <a:path w="9173404" h="1651213">
                <a:moveTo>
                  <a:pt x="0" y="0"/>
                </a:moveTo>
                <a:lnTo>
                  <a:pt x="9173404" y="0"/>
                </a:lnTo>
                <a:lnTo>
                  <a:pt x="9173404" y="1651212"/>
                </a:lnTo>
                <a:lnTo>
                  <a:pt x="0" y="16512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L"/>
          </a:p>
        </p:txBody>
      </p:sp>
      <p:sp>
        <p:nvSpPr>
          <p:cNvPr id="4" name="TextBox 4"/>
          <p:cNvSpPr txBox="1"/>
          <p:nvPr/>
        </p:nvSpPr>
        <p:spPr>
          <a:xfrm>
            <a:off x="529052" y="2922375"/>
            <a:ext cx="17229896" cy="3787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3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FitWise busca desarrollar una solución tecnológica que facilite el acceso a orientación básica sobre entrenamiento y alimentación, especialmente para personas que están comenzando a realizar actividad física.</a:t>
            </a:r>
          </a:p>
          <a:p>
            <a:pPr algn="just">
              <a:lnSpc>
                <a:spcPts val="3330"/>
              </a:lnSpc>
              <a:spcBef>
                <a:spcPct val="0"/>
              </a:spcBef>
            </a:pPr>
            <a:endParaRPr lang="en-US" sz="300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just">
              <a:lnSpc>
                <a:spcPts val="333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A través de una aplicación móvil, buscamos integrar rutinas, guía de ejercicios y máquinas, estimación de requerimientos calóricos y recomendaciones de alimentación en una sola plataforma.</a:t>
            </a:r>
          </a:p>
          <a:p>
            <a:pPr algn="just">
              <a:lnSpc>
                <a:spcPts val="3330"/>
              </a:lnSpc>
              <a:spcBef>
                <a:spcPct val="0"/>
              </a:spcBef>
            </a:pPr>
            <a:endParaRPr lang="en-US" sz="3000">
              <a:solidFill>
                <a:srgbClr val="FFFFFF"/>
              </a:solidFill>
              <a:latin typeface="Anton"/>
              <a:ea typeface="Anton"/>
              <a:cs typeface="Anton"/>
              <a:sym typeface="Anton"/>
            </a:endParaRPr>
          </a:p>
          <a:p>
            <a:pPr algn="just">
              <a:lnSpc>
                <a:spcPts val="3330"/>
              </a:lnSpc>
              <a:spcBef>
                <a:spcPct val="0"/>
              </a:spcBef>
            </a:pPr>
            <a:r>
              <a:rPr lang="en-US" sz="30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El proyecto nos permitirá aplicar nuestros conocimientos de desarrollo de software, bases de datos, desarrollo móvil, diseño UX/UI y metodologías ágiles para transformar una problemática identificada en una solución tecnológica funcional.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237B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5586" y="3711158"/>
            <a:ext cx="7188122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0"/>
              </a:lnSpc>
            </a:pPr>
            <a:r>
              <a:rPr lang="en-US" sz="90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¡GRACIAS POR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849100" y="3720683"/>
            <a:ext cx="7124700" cy="1293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0"/>
              </a:lnSpc>
            </a:pPr>
            <a:r>
              <a:rPr lang="en-US" sz="9000">
                <a:solidFill>
                  <a:srgbClr val="CEE452"/>
                </a:solidFill>
                <a:latin typeface="Anton"/>
                <a:ea typeface="Anton"/>
                <a:cs typeface="Anton"/>
                <a:sym typeface="Anton"/>
              </a:rPr>
              <a:t>SU ATENCIÓN!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823059" y="3965061"/>
            <a:ext cx="7524048" cy="6493669"/>
            <a:chOff x="0" y="0"/>
            <a:chExt cx="1981642" cy="17102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81642" cy="1710267"/>
            </a:xfrm>
            <a:custGeom>
              <a:avLst/>
              <a:gdLst/>
              <a:ahLst/>
              <a:cxnLst/>
              <a:rect l="l" t="t" r="r" b="b"/>
              <a:pathLst>
                <a:path w="1981642" h="1710267">
                  <a:moveTo>
                    <a:pt x="990821" y="0"/>
                  </a:moveTo>
                  <a:lnTo>
                    <a:pt x="1981642" y="1710267"/>
                  </a:lnTo>
                  <a:lnTo>
                    <a:pt x="0" y="1710267"/>
                  </a:lnTo>
                  <a:lnTo>
                    <a:pt x="990821" y="0"/>
                  </a:lnTo>
                  <a:close/>
                </a:path>
              </a:pathLst>
            </a:custGeom>
            <a:solidFill>
              <a:srgbClr val="CEE452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09632" y="708327"/>
              <a:ext cx="1362379" cy="879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45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10800000">
            <a:off x="5243901" y="5267919"/>
            <a:ext cx="1851561" cy="1598000"/>
            <a:chOff x="0" y="0"/>
            <a:chExt cx="1981642" cy="171026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981642" cy="1710267"/>
            </a:xfrm>
            <a:custGeom>
              <a:avLst/>
              <a:gdLst/>
              <a:ahLst/>
              <a:cxnLst/>
              <a:rect l="l" t="t" r="r" b="b"/>
              <a:pathLst>
                <a:path w="1981642" h="1710267">
                  <a:moveTo>
                    <a:pt x="990821" y="0"/>
                  </a:moveTo>
                  <a:lnTo>
                    <a:pt x="1981642" y="1710267"/>
                  </a:lnTo>
                  <a:lnTo>
                    <a:pt x="0" y="1710267"/>
                  </a:lnTo>
                  <a:lnTo>
                    <a:pt x="9908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CL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9632" y="708327"/>
              <a:ext cx="1362379" cy="8797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45"/>
                </a:lnSpc>
              </a:pPr>
              <a:endParaRPr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6357575" y="0"/>
            <a:ext cx="8394821" cy="7269915"/>
            <a:chOff x="0" y="0"/>
            <a:chExt cx="6350000" cy="54991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3175000" y="0"/>
                  </a:moveTo>
                  <a:lnTo>
                    <a:pt x="0" y="0"/>
                  </a:lnTo>
                  <a:lnTo>
                    <a:pt x="1587500" y="2749550"/>
                  </a:lnTo>
                  <a:lnTo>
                    <a:pt x="3175000" y="5499100"/>
                  </a:lnTo>
                  <a:lnTo>
                    <a:pt x="4762500" y="2749550"/>
                  </a:lnTo>
                  <a:lnTo>
                    <a:pt x="6350000" y="0"/>
                  </a:lnTo>
                  <a:close/>
                </a:path>
              </a:pathLst>
            </a:custGeom>
            <a:blipFill>
              <a:blip r:embed="rId2"/>
              <a:stretch>
                <a:fillRect t="-7736" b="-7736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4987417" y="6464819"/>
            <a:ext cx="4413604" cy="3822181"/>
            <a:chOff x="0" y="0"/>
            <a:chExt cx="6350000" cy="54991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0" cy="5499100"/>
            </a:xfrm>
            <a:custGeom>
              <a:avLst/>
              <a:gdLst/>
              <a:ahLst/>
              <a:cxnLst/>
              <a:rect l="l" t="t" r="r" b="b"/>
              <a:pathLst>
                <a:path w="6350000" h="5499100">
                  <a:moveTo>
                    <a:pt x="4762500" y="2749550"/>
                  </a:moveTo>
                  <a:lnTo>
                    <a:pt x="3175000" y="0"/>
                  </a:lnTo>
                  <a:lnTo>
                    <a:pt x="1587500" y="2749550"/>
                  </a:lnTo>
                  <a:lnTo>
                    <a:pt x="0" y="5499100"/>
                  </a:lnTo>
                  <a:lnTo>
                    <a:pt x="6350000" y="5499100"/>
                  </a:lnTo>
                  <a:close/>
                </a:path>
              </a:pathLst>
            </a:custGeom>
            <a:blipFill>
              <a:blip r:embed="rId3"/>
              <a:stretch>
                <a:fillRect l="-49231" b="-14810"/>
              </a:stretch>
            </a:blipFill>
          </p:spPr>
          <p:txBody>
            <a:bodyPr/>
            <a:lstStyle/>
            <a:p>
              <a:endParaRPr lang="es-CL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1154</Words>
  <Application>Microsoft Office PowerPoint</Application>
  <PresentationFormat>Personalizado</PresentationFormat>
  <Paragraphs>220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9" baseType="lpstr">
      <vt:lpstr>Anton</vt:lpstr>
      <vt:lpstr>Anton Italics</vt:lpstr>
      <vt:lpstr>Arial</vt:lpstr>
      <vt:lpstr>Garet</vt:lpstr>
      <vt:lpstr>Garet Bold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Proyecto deportivo moderno geométrico lila y verde</dc:title>
  <cp:lastModifiedBy>JONATHAN FELIPE VALENZUELA GOMEZ</cp:lastModifiedBy>
  <cp:revision>2</cp:revision>
  <dcterms:created xsi:type="dcterms:W3CDTF">2006-08-16T00:00:00Z</dcterms:created>
  <dcterms:modified xsi:type="dcterms:W3CDTF">2026-08-29T20:44:48Z</dcterms:modified>
  <dc:identifier>DAHTi8k1TbM</dc:identifier>
</cp:coreProperties>
</file>